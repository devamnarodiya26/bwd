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57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77" r:id="rId18"/>
    <p:sldId id="378" r:id="rId19"/>
    <p:sldId id="340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74" r:id="rId31"/>
    <p:sldId id="375" r:id="rId32"/>
    <p:sldId id="376" r:id="rId33"/>
    <p:sldId id="361" r:id="rId34"/>
    <p:sldId id="362" r:id="rId35"/>
    <p:sldId id="354" r:id="rId36"/>
    <p:sldId id="355" r:id="rId37"/>
    <p:sldId id="363" r:id="rId38"/>
    <p:sldId id="356" r:id="rId39"/>
    <p:sldId id="357" r:id="rId40"/>
    <p:sldId id="359" r:id="rId41"/>
    <p:sldId id="358" r:id="rId42"/>
    <p:sldId id="360" r:id="rId43"/>
    <p:sldId id="373" r:id="rId44"/>
    <p:sldId id="325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F2404-23A5-4CE1-B681-C56CA191580F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C0B6F-9BF7-495D-B172-86C014DC5B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2030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C0B6F-9BF7-495D-B172-86C014DC5BB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015DB4-C0A9-4A3A-85D0-F92F39D0E4E6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4000" i="1" u="sng" dirty="0" smtClean="0"/>
              <a:t>Unit-2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 </a:t>
            </a:r>
            <a:r>
              <a:rPr lang="en-US" sz="4000" dirty="0"/>
              <a:t>S</a:t>
            </a:r>
            <a:r>
              <a:rPr lang="en-US" sz="4000" dirty="0" smtClean="0"/>
              <a:t>tack &amp; Queue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6868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/>
          <a:lstStyle/>
          <a:p>
            <a:r>
              <a:rPr lang="en-US" sz="3400" dirty="0" smtClean="0"/>
              <a:t>Unit-2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626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b="1" dirty="0" smtClean="0">
                <a:solidFill>
                  <a:schemeClr val="tx1"/>
                </a:solidFill>
              </a:rPr>
              <a:t>Stack </a:t>
            </a:r>
          </a:p>
          <a:p>
            <a:pPr marL="685800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000" b="1" dirty="0" smtClean="0">
                <a:solidFill>
                  <a:schemeClr val="tx1"/>
                </a:solidFill>
              </a:rPr>
              <a:t>Introduction </a:t>
            </a:r>
          </a:p>
          <a:p>
            <a:pPr marL="685800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000" b="1" dirty="0" smtClean="0">
                <a:solidFill>
                  <a:schemeClr val="tx1"/>
                </a:solidFill>
              </a:rPr>
              <a:t>Operations </a:t>
            </a:r>
          </a:p>
          <a:p>
            <a:pPr marL="685800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000" b="1" dirty="0" smtClean="0">
                <a:solidFill>
                  <a:schemeClr val="tx1"/>
                </a:solidFill>
              </a:rPr>
              <a:t>Applications of Stack</a:t>
            </a:r>
          </a:p>
          <a:p>
            <a:pPr marL="914400">
              <a:lnSpc>
                <a:spcPct val="110000"/>
              </a:lnSpc>
              <a:buFont typeface="Courier New" pitchFamily="49" charset="0"/>
              <a:buChar char="o"/>
            </a:pPr>
            <a:r>
              <a:rPr lang="en-US" sz="2000" b="1" dirty="0" smtClean="0">
                <a:solidFill>
                  <a:schemeClr val="tx1"/>
                </a:solidFill>
              </a:rPr>
              <a:t>Recursion</a:t>
            </a:r>
          </a:p>
          <a:p>
            <a:pPr marL="914400">
              <a:lnSpc>
                <a:spcPct val="110000"/>
              </a:lnSpc>
              <a:buFont typeface="Courier New" pitchFamily="49" charset="0"/>
              <a:buChar char="o"/>
            </a:pPr>
            <a:r>
              <a:rPr lang="en-US" sz="2000" b="1" dirty="0" smtClean="0">
                <a:solidFill>
                  <a:schemeClr val="tx1"/>
                </a:solidFill>
              </a:rPr>
              <a:t>Polish notations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Queue </a:t>
            </a:r>
          </a:p>
          <a:p>
            <a:pPr marL="685800" lvl="0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000" b="1" dirty="0">
                <a:solidFill>
                  <a:prstClr val="black"/>
                </a:solidFill>
              </a:rPr>
              <a:t>Introduction </a:t>
            </a:r>
          </a:p>
          <a:p>
            <a:pPr marL="685800" lvl="0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000" b="1" dirty="0" smtClean="0">
                <a:solidFill>
                  <a:prstClr val="black"/>
                </a:solidFill>
              </a:rPr>
              <a:t>Types of Queue</a:t>
            </a:r>
            <a:endParaRPr lang="en-US" sz="2000" b="1" dirty="0">
              <a:solidFill>
                <a:prstClr val="black"/>
              </a:solidFill>
            </a:endParaRPr>
          </a:p>
          <a:p>
            <a:pPr marL="685800" lvl="0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000" b="1" dirty="0" smtClean="0">
                <a:solidFill>
                  <a:prstClr val="black"/>
                </a:solidFill>
              </a:rPr>
              <a:t>Simple Queue and its </a:t>
            </a:r>
            <a:r>
              <a:rPr lang="en-US" sz="2000" b="1" dirty="0" smtClean="0">
                <a:solidFill>
                  <a:prstClr val="black"/>
                </a:solidFill>
              </a:rPr>
              <a:t>operations</a:t>
            </a:r>
            <a:endParaRPr lang="en-US" sz="2000" b="1" dirty="0" smtClean="0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21560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762000"/>
            <a:ext cx="8305800" cy="54864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Stack is an important data structure which stores its elements in an ordered manner.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Take an analogy of a pile of plates where one plate is placed on top of the other as shown in the following figure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 smtClean="0">
                <a:solidFill>
                  <a:schemeClr val="tx1"/>
                </a:solidFill>
              </a:rPr>
              <a:t>A </a:t>
            </a:r>
            <a:r>
              <a:rPr lang="en-US" sz="2200" dirty="0">
                <a:solidFill>
                  <a:schemeClr val="tx1"/>
                </a:solidFill>
              </a:rPr>
              <a:t>plate can be removed from the topmost position. Hence, you can add and remove the plate only at/from one position that is, the topmost </a:t>
            </a:r>
            <a:r>
              <a:rPr lang="en-US" sz="2200" dirty="0" smtClean="0">
                <a:solidFill>
                  <a:schemeClr val="tx1"/>
                </a:solidFill>
              </a:rPr>
              <a:t>position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Stack </a:t>
            </a:r>
            <a:endParaRPr lang="en-US" sz="30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90801" y="2590800"/>
            <a:ext cx="37338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7780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Stack 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1355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b="1" i="1" u="sng" dirty="0">
                <a:solidFill>
                  <a:schemeClr val="tx1"/>
                </a:solidFill>
              </a:rPr>
              <a:t>“A stack is a linear data structure which can be implemented either using an array or a linked list”. </a:t>
            </a: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The elements in a stack are added and removed only from one end, which is called </a:t>
            </a:r>
            <a:r>
              <a:rPr lang="en-US" sz="2200" b="1" dirty="0">
                <a:solidFill>
                  <a:schemeClr val="tx1"/>
                </a:solidFill>
              </a:rPr>
              <a:t>top</a:t>
            </a:r>
            <a:r>
              <a:rPr lang="en-US" sz="2200" dirty="0">
                <a:solidFill>
                  <a:schemeClr val="tx1"/>
                </a:solidFill>
              </a:rPr>
              <a:t>. </a:t>
            </a:r>
            <a:endParaRPr lang="en-US" sz="22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Hence, a stack is called a </a:t>
            </a:r>
            <a:r>
              <a:rPr lang="en-US" sz="2200" b="1" dirty="0" smtClean="0">
                <a:solidFill>
                  <a:schemeClr val="tx1"/>
                </a:solidFill>
              </a:rPr>
              <a:t>LIFO (Last In First Out) </a:t>
            </a:r>
            <a:r>
              <a:rPr lang="en-US" sz="2200" dirty="0" smtClean="0">
                <a:solidFill>
                  <a:schemeClr val="tx1"/>
                </a:solidFill>
              </a:rPr>
              <a:t>data </a:t>
            </a:r>
            <a:r>
              <a:rPr lang="en-US" sz="2200" dirty="0">
                <a:solidFill>
                  <a:schemeClr val="tx1"/>
                </a:solidFill>
              </a:rPr>
              <a:t>structure as the element that was inserted last is the first one to be taken out.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5002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Array representation of Stack 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In computer memory, stacks can be represented as a linear array.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Every stack has a variable </a:t>
            </a:r>
            <a:r>
              <a:rPr lang="en-US" sz="2100" b="1" dirty="0">
                <a:solidFill>
                  <a:schemeClr val="tx1"/>
                </a:solidFill>
              </a:rPr>
              <a:t>TOP </a:t>
            </a:r>
            <a:r>
              <a:rPr lang="en-US" sz="2100" dirty="0">
                <a:solidFill>
                  <a:schemeClr val="tx1"/>
                </a:solidFill>
              </a:rPr>
              <a:t>associated with it</a:t>
            </a:r>
            <a:r>
              <a:rPr lang="en-US" sz="21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TOP is used to store </a:t>
            </a:r>
            <a:r>
              <a:rPr lang="en-US" sz="2100" u="sng" dirty="0">
                <a:solidFill>
                  <a:schemeClr val="tx1"/>
                </a:solidFill>
              </a:rPr>
              <a:t>the address of topmost element of the stack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There is another variable named </a:t>
            </a:r>
            <a:r>
              <a:rPr lang="en-US" sz="2100" b="1" dirty="0" smtClean="0">
                <a:solidFill>
                  <a:schemeClr val="tx1"/>
                </a:solidFill>
              </a:rPr>
              <a:t>MAX </a:t>
            </a:r>
            <a:r>
              <a:rPr lang="en-US" sz="2100" dirty="0" smtClean="0">
                <a:solidFill>
                  <a:schemeClr val="tx1"/>
                </a:solidFill>
              </a:rPr>
              <a:t>which </a:t>
            </a:r>
            <a:r>
              <a:rPr lang="en-US" sz="2100" dirty="0">
                <a:solidFill>
                  <a:schemeClr val="tx1"/>
                </a:solidFill>
              </a:rPr>
              <a:t>will be used </a:t>
            </a:r>
            <a:r>
              <a:rPr lang="en-US" sz="2100" u="sng" dirty="0">
                <a:solidFill>
                  <a:schemeClr val="tx1"/>
                </a:solidFill>
              </a:rPr>
              <a:t>to store the maximum number of elements that the stack can hold</a:t>
            </a:r>
            <a:r>
              <a:rPr lang="en-US" sz="21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If </a:t>
            </a:r>
            <a:r>
              <a:rPr lang="en-US" sz="2100" b="1" dirty="0">
                <a:solidFill>
                  <a:schemeClr val="tx1"/>
                </a:solidFill>
              </a:rPr>
              <a:t>TOP=NULL</a:t>
            </a:r>
            <a:r>
              <a:rPr lang="en-US" sz="2100" dirty="0">
                <a:solidFill>
                  <a:schemeClr val="tx1"/>
                </a:solidFill>
              </a:rPr>
              <a:t> means that </a:t>
            </a:r>
            <a:r>
              <a:rPr lang="en-US" sz="2100" b="1" u="sng" dirty="0">
                <a:solidFill>
                  <a:schemeClr val="tx1"/>
                </a:solidFill>
              </a:rPr>
              <a:t>the stack is Empty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If </a:t>
            </a:r>
            <a:r>
              <a:rPr lang="en-US" sz="2100" b="1" dirty="0">
                <a:solidFill>
                  <a:schemeClr val="tx1"/>
                </a:solidFill>
              </a:rPr>
              <a:t>TOP=MAX-1 </a:t>
            </a:r>
            <a:r>
              <a:rPr lang="en-US" sz="2100" dirty="0">
                <a:solidFill>
                  <a:schemeClr val="tx1"/>
                </a:solidFill>
              </a:rPr>
              <a:t>means that </a:t>
            </a:r>
            <a:r>
              <a:rPr lang="en-US" sz="2100" b="1" u="sng" dirty="0">
                <a:solidFill>
                  <a:schemeClr val="tx1"/>
                </a:solidFill>
              </a:rPr>
              <a:t>the stack is Full.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1657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Array representation of Stack 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An example </a:t>
            </a:r>
            <a:r>
              <a:rPr lang="en-US" sz="2100" dirty="0" smtClean="0">
                <a:solidFill>
                  <a:schemeClr val="tx1"/>
                </a:solidFill>
              </a:rPr>
              <a:t>stack 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The </a:t>
            </a:r>
            <a:r>
              <a:rPr lang="en-US" sz="2100" dirty="0">
                <a:solidFill>
                  <a:schemeClr val="tx1"/>
                </a:solidFill>
              </a:rPr>
              <a:t>stack in above figure shows that </a:t>
            </a:r>
            <a:r>
              <a:rPr lang="en-US" sz="2100" b="1" dirty="0">
                <a:solidFill>
                  <a:schemeClr val="tx1"/>
                </a:solidFill>
              </a:rPr>
              <a:t>TOP=4</a:t>
            </a:r>
            <a:r>
              <a:rPr lang="en-US" sz="2100" dirty="0">
                <a:solidFill>
                  <a:schemeClr val="tx1"/>
                </a:solidFill>
              </a:rPr>
              <a:t>, so insertions and deletions will be done at this position.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 In this stack, five more elements can still be stored.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6200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05219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Operations on a Stack 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A </a:t>
            </a:r>
            <a:r>
              <a:rPr lang="en-US" sz="2100" dirty="0">
                <a:solidFill>
                  <a:schemeClr val="tx1"/>
                </a:solidFill>
              </a:rPr>
              <a:t>stack has </a:t>
            </a:r>
            <a:r>
              <a:rPr lang="en-US" sz="2100" dirty="0" smtClean="0">
                <a:solidFill>
                  <a:schemeClr val="tx1"/>
                </a:solidFill>
              </a:rPr>
              <a:t>four basic </a:t>
            </a:r>
            <a:r>
              <a:rPr lang="en-US" sz="2100" dirty="0">
                <a:solidFill>
                  <a:schemeClr val="tx1"/>
                </a:solidFill>
              </a:rPr>
              <a:t>operations</a:t>
            </a:r>
            <a:r>
              <a:rPr lang="en-US" sz="2100" dirty="0" smtClean="0">
                <a:solidFill>
                  <a:schemeClr val="tx1"/>
                </a:solidFill>
              </a:rPr>
              <a:t>:</a:t>
            </a:r>
            <a:endParaRPr lang="en-US" sz="21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300" b="1" dirty="0" smtClean="0">
                <a:solidFill>
                  <a:schemeClr val="tx1"/>
                </a:solidFill>
              </a:rPr>
              <a:t>Push</a:t>
            </a:r>
            <a:r>
              <a:rPr lang="en-US" sz="2300" b="1" dirty="0">
                <a:solidFill>
                  <a:schemeClr val="tx1"/>
                </a:solidFill>
              </a:rPr>
              <a:t>: </a:t>
            </a:r>
            <a:r>
              <a:rPr lang="en-US" sz="2100" dirty="0">
                <a:solidFill>
                  <a:schemeClr val="tx1"/>
                </a:solidFill>
              </a:rPr>
              <a:t>adds an element to the top of the stack.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b="1" dirty="0">
                <a:solidFill>
                  <a:schemeClr val="tx1"/>
                </a:solidFill>
              </a:rPr>
              <a:t>P</a:t>
            </a:r>
            <a:r>
              <a:rPr lang="en-US" sz="2300" b="1" dirty="0" smtClean="0">
                <a:solidFill>
                  <a:schemeClr val="tx1"/>
                </a:solidFill>
              </a:rPr>
              <a:t>op</a:t>
            </a:r>
            <a:r>
              <a:rPr lang="en-US" sz="2300" b="1" dirty="0">
                <a:solidFill>
                  <a:schemeClr val="tx1"/>
                </a:solidFill>
              </a:rPr>
              <a:t>: </a:t>
            </a:r>
            <a:r>
              <a:rPr lang="en-US" sz="2100" dirty="0">
                <a:solidFill>
                  <a:schemeClr val="tx1"/>
                </a:solidFill>
              </a:rPr>
              <a:t>removes the element from the top of the stack.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b="1" dirty="0" smtClean="0">
                <a:solidFill>
                  <a:schemeClr val="tx1"/>
                </a:solidFill>
              </a:rPr>
              <a:t>Peek: </a:t>
            </a:r>
            <a:r>
              <a:rPr lang="en-US" sz="2100" dirty="0" smtClean="0">
                <a:solidFill>
                  <a:schemeClr val="tx1"/>
                </a:solidFill>
              </a:rPr>
              <a:t>returns </a:t>
            </a:r>
            <a:r>
              <a:rPr lang="en-US" sz="2100" dirty="0">
                <a:solidFill>
                  <a:schemeClr val="tx1"/>
                </a:solidFill>
              </a:rPr>
              <a:t>the value of the topmost element of the stack</a:t>
            </a:r>
            <a:r>
              <a:rPr lang="en-US" sz="2100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100" b="1" dirty="0" smtClean="0">
                <a:solidFill>
                  <a:schemeClr val="tx1"/>
                </a:solidFill>
              </a:rPr>
              <a:t>Update: </a:t>
            </a:r>
            <a:r>
              <a:rPr lang="en-US" sz="2100" dirty="0" smtClean="0">
                <a:solidFill>
                  <a:schemeClr val="tx1"/>
                </a:solidFill>
              </a:rPr>
              <a:t>changes the value of element given by user of the stack.</a:t>
            </a: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1457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 smtClean="0"/>
              <a:t>1. Push Operation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 </a:t>
            </a:r>
            <a:r>
              <a:rPr lang="en-US" sz="2100" b="1" dirty="0">
                <a:solidFill>
                  <a:schemeClr val="tx1"/>
                </a:solidFill>
              </a:rPr>
              <a:t>PUSH</a:t>
            </a:r>
            <a:r>
              <a:rPr lang="en-US" sz="2100" dirty="0">
                <a:solidFill>
                  <a:schemeClr val="tx1"/>
                </a:solidFill>
              </a:rPr>
              <a:t> operation is used </a:t>
            </a:r>
            <a:r>
              <a:rPr lang="en-US" sz="2100" u="sng" dirty="0">
                <a:solidFill>
                  <a:schemeClr val="tx1"/>
                </a:solidFill>
              </a:rPr>
              <a:t>to insert an element into the stack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 new element is added </a:t>
            </a:r>
            <a:r>
              <a:rPr lang="en-US" sz="2100" u="sng" dirty="0">
                <a:solidFill>
                  <a:schemeClr val="tx1"/>
                </a:solidFill>
              </a:rPr>
              <a:t>at the topmost position</a:t>
            </a:r>
            <a:r>
              <a:rPr lang="en-US" sz="2100" dirty="0">
                <a:solidFill>
                  <a:schemeClr val="tx1"/>
                </a:solidFill>
              </a:rPr>
              <a:t> of the stack.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However before inserting the value, we must first check if </a:t>
            </a:r>
            <a:r>
              <a:rPr lang="en-US" sz="2100" b="1" u="sng" dirty="0">
                <a:solidFill>
                  <a:schemeClr val="tx1"/>
                </a:solidFill>
              </a:rPr>
              <a:t>TOP=MAX-1</a:t>
            </a:r>
            <a:r>
              <a:rPr lang="en-US" sz="2100" dirty="0">
                <a:solidFill>
                  <a:schemeClr val="tx1"/>
                </a:solidFill>
              </a:rPr>
              <a:t>, as it would mean that the stack is full and no further insertions can be done on it.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If an attempt is made to insert an element in a stack that is already full, an </a:t>
            </a:r>
            <a:r>
              <a:rPr lang="en-US" sz="2100" b="1" dirty="0">
                <a:solidFill>
                  <a:schemeClr val="tx1"/>
                </a:solidFill>
              </a:rPr>
              <a:t>OVERFLOW message </a:t>
            </a:r>
            <a:r>
              <a:rPr lang="en-US" sz="2100" dirty="0">
                <a:solidFill>
                  <a:schemeClr val="tx1"/>
                </a:solidFill>
              </a:rPr>
              <a:t>is printed.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0997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 smtClean="0"/>
              <a:t>1. Push Operation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An example of stack: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Stack after insertion: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52600"/>
            <a:ext cx="66294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962400"/>
            <a:ext cx="6019799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69661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 smtClean="0"/>
              <a:t>1. Push Operation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Algorithm </a:t>
            </a:r>
            <a:r>
              <a:rPr lang="en-US" sz="2100" dirty="0">
                <a:solidFill>
                  <a:schemeClr val="tx1"/>
                </a:solidFill>
              </a:rPr>
              <a:t>to insert an element in a stack: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057400"/>
            <a:ext cx="51054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75957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/>
              <a:t>2</a:t>
            </a:r>
            <a:r>
              <a:rPr lang="en-US" sz="3000" dirty="0" smtClean="0"/>
              <a:t>. Pop Operation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The </a:t>
            </a:r>
            <a:r>
              <a:rPr lang="en-US" sz="2100" b="1" dirty="0">
                <a:solidFill>
                  <a:schemeClr val="tx1"/>
                </a:solidFill>
              </a:rPr>
              <a:t>POP</a:t>
            </a:r>
            <a:r>
              <a:rPr lang="en-US" sz="2100" dirty="0">
                <a:solidFill>
                  <a:schemeClr val="tx1"/>
                </a:solidFill>
              </a:rPr>
              <a:t> operation is used </a:t>
            </a:r>
            <a:r>
              <a:rPr lang="en-US" sz="2100" u="sng" dirty="0">
                <a:solidFill>
                  <a:schemeClr val="tx1"/>
                </a:solidFill>
              </a:rPr>
              <a:t>to delete an element from the stack</a:t>
            </a:r>
            <a:r>
              <a:rPr lang="en-US" sz="21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However before deleting the value, we must check if </a:t>
            </a:r>
            <a:r>
              <a:rPr lang="en-US" sz="2100" b="1" dirty="0">
                <a:solidFill>
                  <a:schemeClr val="tx1"/>
                </a:solidFill>
              </a:rPr>
              <a:t>TOP=NULL</a:t>
            </a:r>
            <a:r>
              <a:rPr lang="en-US" sz="2100" dirty="0">
                <a:solidFill>
                  <a:schemeClr val="tx1"/>
                </a:solidFill>
              </a:rPr>
              <a:t>, as it would mean that the stack is empty and therefore no further deletions can be done on it</a:t>
            </a:r>
            <a:r>
              <a:rPr lang="en-US" sz="21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If an attempt to delete a value from a stack that is already empty is made, an </a:t>
            </a:r>
            <a:r>
              <a:rPr lang="en-US" sz="2100" b="1" dirty="0">
                <a:solidFill>
                  <a:schemeClr val="tx1"/>
                </a:solidFill>
              </a:rPr>
              <a:t>UNDERFLOW message </a:t>
            </a:r>
            <a:r>
              <a:rPr lang="en-US" sz="2100" dirty="0">
                <a:solidFill>
                  <a:schemeClr val="tx1"/>
                </a:solidFill>
              </a:rPr>
              <a:t>is printed.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7618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/>
              <a:t>2</a:t>
            </a:r>
            <a:r>
              <a:rPr lang="en-US" sz="3000" dirty="0" smtClean="0"/>
              <a:t>. Pop Operation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Stack after deletion</a:t>
            </a:r>
            <a:r>
              <a:rPr lang="en-US" sz="2100" dirty="0" smtClean="0">
                <a:solidFill>
                  <a:schemeClr val="tx1"/>
                </a:solidFill>
              </a:rPr>
              <a:t>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Algorithm to delete an element from the stack: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524000"/>
            <a:ext cx="5181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200400"/>
            <a:ext cx="44958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12623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 smtClean="0"/>
              <a:t>3. Peek Operation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9604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b="1" dirty="0" smtClean="0">
                <a:solidFill>
                  <a:schemeClr val="tx1"/>
                </a:solidFill>
              </a:rPr>
              <a:t>PEEK</a:t>
            </a:r>
            <a:r>
              <a:rPr lang="en-US" sz="2100" dirty="0" smtClean="0">
                <a:solidFill>
                  <a:schemeClr val="tx1"/>
                </a:solidFill>
              </a:rPr>
              <a:t> </a:t>
            </a:r>
            <a:r>
              <a:rPr lang="en-US" sz="2100" dirty="0">
                <a:solidFill>
                  <a:schemeClr val="tx1"/>
                </a:solidFill>
              </a:rPr>
              <a:t>is an operation that </a:t>
            </a:r>
            <a:r>
              <a:rPr lang="en-US" sz="2100" u="sng" dirty="0">
                <a:solidFill>
                  <a:schemeClr val="tx1"/>
                </a:solidFill>
              </a:rPr>
              <a:t>returns the value of the topmost element of the stack without deleting it from the stack</a:t>
            </a:r>
            <a:r>
              <a:rPr lang="en-US" sz="21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 algorithm for the peep operation is given as follows: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352800"/>
            <a:ext cx="46482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86730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/>
              <a:t>4</a:t>
            </a:r>
            <a:r>
              <a:rPr lang="en-US" sz="3000" dirty="0" smtClean="0"/>
              <a:t>. Update Operation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 smtClean="0">
                <a:solidFill>
                  <a:schemeClr val="tx1"/>
                </a:solidFill>
              </a:rPr>
              <a:t>UPDATE is an operation that updates or changes the value of specified element with specific index.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 smtClean="0">
                <a:solidFill>
                  <a:schemeClr val="tx1"/>
                </a:solidFill>
              </a:rPr>
              <a:t>However, the update operation first checks if the stack is empty or contains some element.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28750" y="2819400"/>
            <a:ext cx="5664758" cy="3124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32999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Applications of Stack 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Recursion 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Polish Notations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7627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 smtClean="0"/>
              <a:t>Recursion 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u="sng" dirty="0" smtClean="0">
                <a:solidFill>
                  <a:schemeClr val="tx1"/>
                </a:solidFill>
              </a:rPr>
              <a:t>A function calls itself is called </a:t>
            </a:r>
            <a:r>
              <a:rPr lang="en-US" sz="2100" b="1" u="sng" dirty="0" smtClean="0">
                <a:solidFill>
                  <a:schemeClr val="tx1"/>
                </a:solidFill>
              </a:rPr>
              <a:t>Recursion</a:t>
            </a:r>
            <a:r>
              <a:rPr lang="en-US" sz="21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Recursion is a repetitive process in which function calls itself repeatedly </a:t>
            </a:r>
            <a:r>
              <a:rPr lang="en-US" sz="2100" u="sng" dirty="0" smtClean="0">
                <a:solidFill>
                  <a:schemeClr val="tx1"/>
                </a:solidFill>
              </a:rPr>
              <a:t>until some predefined condition is met</a:t>
            </a:r>
            <a:r>
              <a:rPr lang="en-US" sz="21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The recursive function must have a stopping condition (Termination/ Anchor Condition) </a:t>
            </a:r>
            <a:r>
              <a:rPr lang="en-US" sz="2100" u="sng" dirty="0" smtClean="0">
                <a:solidFill>
                  <a:schemeClr val="tx1"/>
                </a:solidFill>
              </a:rPr>
              <a:t>or else the function would never terminate</a:t>
            </a:r>
            <a:r>
              <a:rPr lang="en-US" sz="2100" dirty="0" smtClean="0">
                <a:solidFill>
                  <a:schemeClr val="tx1"/>
                </a:solidFill>
              </a:rPr>
              <a:t>. So ultimately program </a:t>
            </a:r>
            <a:r>
              <a:rPr lang="en-US" sz="2100" b="1" dirty="0" smtClean="0">
                <a:solidFill>
                  <a:schemeClr val="tx1"/>
                </a:solidFill>
              </a:rPr>
              <a:t>goes into infinite loop.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Examples where recursion has been used are:</a:t>
            </a:r>
          </a:p>
          <a:p>
            <a:pPr marL="571500" indent="0" algn="just">
              <a:lnSpc>
                <a:spcPct val="150000"/>
              </a:lnSpc>
              <a:buNone/>
            </a:pPr>
            <a:r>
              <a:rPr lang="en-US" sz="1900" dirty="0" smtClean="0">
                <a:solidFill>
                  <a:schemeClr val="tx1"/>
                </a:solidFill>
              </a:rPr>
              <a:t>Factorial of a given number, Fibonacci series up to given term, etc…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19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81857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 smtClean="0"/>
              <a:t>Recursion 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#include&lt;</a:t>
            </a:r>
            <a:r>
              <a:rPr lang="en-US" sz="2200" dirty="0" err="1" smtClean="0">
                <a:solidFill>
                  <a:schemeClr val="tx1"/>
                </a:solidFill>
              </a:rPr>
              <a:t>stdio.h</a:t>
            </a:r>
            <a:r>
              <a:rPr lang="en-US" sz="2200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#include&lt;</a:t>
            </a:r>
            <a:r>
              <a:rPr lang="en-US" sz="2200" dirty="0" err="1" smtClean="0">
                <a:solidFill>
                  <a:schemeClr val="tx1"/>
                </a:solidFill>
              </a:rPr>
              <a:t>conio.h</a:t>
            </a:r>
            <a:r>
              <a:rPr lang="en-US" sz="2200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 err="1" smtClean="0">
                <a:solidFill>
                  <a:schemeClr val="tx1"/>
                </a:solidFill>
              </a:rPr>
              <a:t>int</a:t>
            </a:r>
            <a:r>
              <a:rPr lang="en-US" sz="2200" dirty="0" smtClean="0">
                <a:solidFill>
                  <a:schemeClr val="tx1"/>
                </a:solidFill>
              </a:rPr>
              <a:t> factorial(</a:t>
            </a:r>
            <a:r>
              <a:rPr lang="en-US" sz="2200" dirty="0" err="1" smtClean="0">
                <a:solidFill>
                  <a:schemeClr val="tx1"/>
                </a:solidFill>
              </a:rPr>
              <a:t>int</a:t>
            </a:r>
            <a:r>
              <a:rPr lang="en-US" sz="2200" dirty="0" smtClean="0">
                <a:solidFill>
                  <a:schemeClr val="tx1"/>
                </a:solidFill>
              </a:rPr>
              <a:t> n);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void main()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{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	</a:t>
            </a:r>
            <a:r>
              <a:rPr lang="en-US" sz="2200" dirty="0" err="1" smtClean="0">
                <a:solidFill>
                  <a:schemeClr val="tx1"/>
                </a:solidFill>
              </a:rPr>
              <a:t>int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n,z</a:t>
            </a:r>
            <a:r>
              <a:rPr lang="en-US" sz="2200" dirty="0" smtClean="0">
                <a:solidFill>
                  <a:schemeClr val="tx1"/>
                </a:solidFill>
              </a:rPr>
              <a:t>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	</a:t>
            </a:r>
            <a:r>
              <a:rPr lang="en-US" sz="2200" dirty="0" err="1" smtClean="0">
                <a:solidFill>
                  <a:schemeClr val="tx1"/>
                </a:solidFill>
              </a:rPr>
              <a:t>clrscr</a:t>
            </a:r>
            <a:r>
              <a:rPr lang="en-US" sz="2200" dirty="0" smtClean="0">
                <a:solidFill>
                  <a:schemeClr val="tx1"/>
                </a:solidFill>
              </a:rPr>
              <a:t>();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	</a:t>
            </a:r>
            <a:r>
              <a:rPr lang="en-US" sz="2200" dirty="0" err="1" smtClean="0">
                <a:solidFill>
                  <a:schemeClr val="tx1"/>
                </a:solidFill>
              </a:rPr>
              <a:t>printf</a:t>
            </a:r>
            <a:r>
              <a:rPr lang="en-US" sz="2200" dirty="0" smtClean="0">
                <a:solidFill>
                  <a:schemeClr val="tx1"/>
                </a:solidFill>
              </a:rPr>
              <a:t>("\n Enter Value : ");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	</a:t>
            </a:r>
            <a:r>
              <a:rPr lang="en-US" sz="2200" dirty="0" err="1" smtClean="0">
                <a:solidFill>
                  <a:schemeClr val="tx1"/>
                </a:solidFill>
              </a:rPr>
              <a:t>scanf</a:t>
            </a:r>
            <a:r>
              <a:rPr lang="en-US" sz="2200" dirty="0" smtClean="0">
                <a:solidFill>
                  <a:schemeClr val="tx1"/>
                </a:solidFill>
              </a:rPr>
              <a:t>("%</a:t>
            </a:r>
            <a:r>
              <a:rPr lang="en-US" sz="2200" dirty="0" err="1" smtClean="0">
                <a:solidFill>
                  <a:schemeClr val="tx1"/>
                </a:solidFill>
              </a:rPr>
              <a:t>d",&amp;n</a:t>
            </a:r>
            <a:r>
              <a:rPr lang="en-US" sz="2200" dirty="0" smtClean="0">
                <a:solidFill>
                  <a:schemeClr val="tx1"/>
                </a:solidFill>
              </a:rPr>
              <a:t>);</a:t>
            </a:r>
          </a:p>
          <a:p>
            <a:pPr algn="just">
              <a:lnSpc>
                <a:spcPct val="150000"/>
              </a:lnSpc>
              <a:buNone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	z=factorial(n);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	</a:t>
            </a:r>
            <a:r>
              <a:rPr lang="en-US" sz="2200" dirty="0" err="1" smtClean="0">
                <a:solidFill>
                  <a:schemeClr val="tx1"/>
                </a:solidFill>
              </a:rPr>
              <a:t>printf</a:t>
            </a:r>
            <a:r>
              <a:rPr lang="en-US" sz="2200" dirty="0" smtClean="0">
                <a:solidFill>
                  <a:schemeClr val="tx1"/>
                </a:solidFill>
              </a:rPr>
              <a:t>("\n Factorial is : %</a:t>
            </a:r>
            <a:r>
              <a:rPr lang="en-US" sz="2200" dirty="0" err="1" smtClean="0">
                <a:solidFill>
                  <a:schemeClr val="tx1"/>
                </a:solidFill>
              </a:rPr>
              <a:t>d",z</a:t>
            </a:r>
            <a:r>
              <a:rPr lang="en-US" sz="2200" dirty="0" smtClean="0">
                <a:solidFill>
                  <a:schemeClr val="tx1"/>
                </a:solidFill>
              </a:rPr>
              <a:t>);</a:t>
            </a:r>
          </a:p>
          <a:p>
            <a:pPr algn="just">
              <a:lnSpc>
                <a:spcPct val="150000"/>
              </a:lnSpc>
              <a:buNone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81857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 smtClean="0"/>
              <a:t>Recursion 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800" dirty="0" err="1" smtClean="0">
                <a:solidFill>
                  <a:schemeClr val="tx1"/>
                </a:solidFill>
              </a:rPr>
              <a:t>int</a:t>
            </a:r>
            <a:r>
              <a:rPr lang="en-US" sz="1800" dirty="0" smtClean="0">
                <a:solidFill>
                  <a:schemeClr val="tx1"/>
                </a:solidFill>
              </a:rPr>
              <a:t> factorial(</a:t>
            </a:r>
            <a:r>
              <a:rPr lang="en-US" sz="1800" dirty="0" err="1" smtClean="0">
                <a:solidFill>
                  <a:schemeClr val="tx1"/>
                </a:solidFill>
              </a:rPr>
              <a:t>int</a:t>
            </a:r>
            <a:r>
              <a:rPr lang="en-US" sz="1800" dirty="0" smtClean="0">
                <a:solidFill>
                  <a:schemeClr val="tx1"/>
                </a:solidFill>
              </a:rPr>
              <a:t> n)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{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	</a:t>
            </a:r>
            <a:r>
              <a:rPr lang="en-US" sz="1800" dirty="0" err="1" smtClean="0">
                <a:solidFill>
                  <a:schemeClr val="tx1"/>
                </a:solidFill>
              </a:rPr>
              <a:t>int</a:t>
            </a:r>
            <a:r>
              <a:rPr lang="en-US" sz="1800" dirty="0" smtClean="0">
                <a:solidFill>
                  <a:schemeClr val="tx1"/>
                </a:solidFill>
              </a:rPr>
              <a:t> f;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	if(n==1)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		return 1;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	else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		f=n*factorial(n-1);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	return f;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81857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-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 smtClean="0"/>
              <a:t>Iteration Vs. Recursion 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19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7021616"/>
              </p:ext>
            </p:extLst>
          </p:nvPr>
        </p:nvGraphicFramePr>
        <p:xfrm>
          <a:off x="304800" y="735330"/>
          <a:ext cx="8534400" cy="54368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838200"/>
                <a:gridCol w="1849657"/>
                <a:gridCol w="3150691"/>
                <a:gridCol w="26958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Sr . No.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Basis for Comparison 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Recursion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Iteration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763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Basic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The statement in a body of function calls the function itself.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Allows the set of instructions to be repeatedly executed.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763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Format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In recursive function, only termination condition (base case) is specified.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Iteration includes initialization, condition, execution of statement within loop and update (increments and decrements) the control variable.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763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Termination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conditional statement is included in the body of the function to force the function to return without recursion call being executed.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iteration statement is repeatedly executed until a certain condition is reached.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68920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-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 smtClean="0"/>
              <a:t>Iteration Vs. Recursion 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19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17455112"/>
              </p:ext>
            </p:extLst>
          </p:nvPr>
        </p:nvGraphicFramePr>
        <p:xfrm>
          <a:off x="457200" y="685800"/>
          <a:ext cx="8382000" cy="5562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836081"/>
                <a:gridCol w="1844981"/>
                <a:gridCol w="3142726"/>
                <a:gridCol w="2558212"/>
              </a:tblGrid>
              <a:tr h="6619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Sr . No.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Basis for Comparison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Recursion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Iteration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6703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Condition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 If the function does not coverage to some condition called (base case), it leads to infinite recursion.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If the control condition in the iteration statement never become false, it leads to infinite iteration.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767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Infinite Repetition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Infinite recursion can crash the system.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Infinite loop uses CPU cycles repeatedly.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767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Applied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Recursion is always applied to functions.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Iteration is applied to iteration statements or "loops".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767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Speed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Slow in execution.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Fast in execution.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9848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3000" dirty="0" smtClean="0"/>
              <a:t>Iteration Vs. Recursion 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8842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19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13409870"/>
              </p:ext>
            </p:extLst>
          </p:nvPr>
        </p:nvGraphicFramePr>
        <p:xfrm>
          <a:off x="457200" y="1072437"/>
          <a:ext cx="8229600" cy="464256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836081"/>
                <a:gridCol w="1844981"/>
                <a:gridCol w="3142726"/>
                <a:gridCol w="2405812"/>
              </a:tblGrid>
              <a:tr h="6850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Sr . No.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Basis for Comparison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Recursion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Iteration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2867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Stack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The stack is used to store the set of new local variables and parameters each time the function is called.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Does not uses stack.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11441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Overhead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Recursion possesses the overhead of repeated function calls.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No overhead of repeated function call.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11441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Size of Code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Recursion reduces the size of the code.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Iteration makes the code longer.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4172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2800" dirty="0" smtClean="0"/>
              <a:t>Polish Notations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9604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Following are three different but equivalent notations od writing algebraic expression: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800100" indent="-400050" algn="just">
              <a:lnSpc>
                <a:spcPct val="150000"/>
              </a:lnSpc>
              <a:buAutoNum type="arabicPeriod"/>
            </a:pPr>
            <a:r>
              <a:rPr lang="en-US" sz="2100" dirty="0" smtClean="0">
                <a:solidFill>
                  <a:schemeClr val="tx1"/>
                </a:solidFill>
              </a:rPr>
              <a:t>Infix Notation  A+B</a:t>
            </a:r>
          </a:p>
          <a:p>
            <a:pPr marL="800100" indent="-400050" algn="just">
              <a:lnSpc>
                <a:spcPct val="150000"/>
              </a:lnSpc>
              <a:buAutoNum type="arabicPeriod"/>
            </a:pPr>
            <a:r>
              <a:rPr lang="en-US" sz="2100" dirty="0" smtClean="0">
                <a:solidFill>
                  <a:schemeClr val="tx1"/>
                </a:solidFill>
              </a:rPr>
              <a:t>Postfix Notation  AB+</a:t>
            </a:r>
          </a:p>
          <a:p>
            <a:pPr marL="800100" indent="-400050" algn="just">
              <a:lnSpc>
                <a:spcPct val="150000"/>
              </a:lnSpc>
              <a:buAutoNum type="arabicPeriod"/>
            </a:pPr>
            <a:r>
              <a:rPr lang="en-US" sz="2100" dirty="0" smtClean="0">
                <a:solidFill>
                  <a:schemeClr val="tx1"/>
                </a:solidFill>
              </a:rPr>
              <a:t>Prefix Notation   +AB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1344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600" dirty="0" smtClean="0"/>
              <a:t>Infix Notation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3400" y="960437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 smtClean="0">
                <a:solidFill>
                  <a:schemeClr val="tx1"/>
                </a:solidFill>
              </a:rPr>
              <a:t>In the </a:t>
            </a:r>
            <a:r>
              <a:rPr lang="en-US" sz="1900" dirty="0">
                <a:solidFill>
                  <a:schemeClr val="tx1"/>
                </a:solidFill>
              </a:rPr>
              <a:t>infix notation, the operator is placed between the operands</a:t>
            </a:r>
            <a:r>
              <a:rPr lang="en-US" sz="19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>
                <a:solidFill>
                  <a:schemeClr val="tx1"/>
                </a:solidFill>
              </a:rPr>
              <a:t>For example, A + B; here, the plus operator is place between the two operands A and B.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>
                <a:solidFill>
                  <a:schemeClr val="tx1"/>
                </a:solidFill>
              </a:rPr>
              <a:t>Although we find it easy to write expressions using the infix notation, computers find them difficult to parse as they need a lot information such as operator precedence, associativity rules and brackets which dictate the rules, to evaluate the expression.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>
                <a:solidFill>
                  <a:schemeClr val="tx1"/>
                </a:solidFill>
              </a:rPr>
              <a:t>So computers work more efficiently with expressions written using prefix and postfix notations.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996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600" dirty="0" smtClean="0"/>
              <a:t>Postfix Notation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In the postfix notation, as the name suggests the operator is placed after the operands.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For example, if an expression is written as A+B in infix notation, the same expression is written as AB+ in the postfix notation.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 order of evaluation of a postfix expression is always from left to right. Even brackets cannot alter the order of evaluation.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Expression (A + B) * C is written is postfix notation as:</a:t>
            </a:r>
          </a:p>
          <a:p>
            <a:pPr marL="0" indent="85725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AB+C*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8524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600" dirty="0" smtClean="0"/>
              <a:t>Postfix Notation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Postfix operation does not even follow the rules of operator precedence.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 operator that occurs first in the expression is operated first on the </a:t>
            </a:r>
            <a:r>
              <a:rPr lang="en-US" sz="2100" dirty="0" smtClean="0">
                <a:solidFill>
                  <a:schemeClr val="tx1"/>
                </a:solidFill>
              </a:rPr>
              <a:t>operands.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For example, given a postfix notation AB+C*; while evaluation addition will be performed prior to multiplication.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b="1" u="sng" dirty="0">
                <a:solidFill>
                  <a:schemeClr val="tx1"/>
                </a:solidFill>
              </a:rPr>
              <a:t>Exercise: Convert following Infix expressions into Postfix expressions:</a:t>
            </a:r>
          </a:p>
          <a:p>
            <a:pPr marL="62865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(A – B) * (C + D)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8955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600" dirty="0" smtClean="0"/>
              <a:t>Prefix Notation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Prefix notation is same as postfix notation but having only a difference: the operator is placed before the operands.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For example: if A + B is an expression in the infix notation, then the corresponding expression in a  prefix notation is given by: +AB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b="1" u="sng" dirty="0">
                <a:solidFill>
                  <a:schemeClr val="tx1"/>
                </a:solidFill>
              </a:rPr>
              <a:t>Exercise: Convert following Infix expressions into </a:t>
            </a:r>
            <a:r>
              <a:rPr lang="en-US" sz="2100" b="1" u="sng" dirty="0" smtClean="0">
                <a:solidFill>
                  <a:schemeClr val="tx1"/>
                </a:solidFill>
              </a:rPr>
              <a:t>Prefix </a:t>
            </a:r>
            <a:r>
              <a:rPr lang="en-US" sz="2100" b="1" u="sng" dirty="0">
                <a:solidFill>
                  <a:schemeClr val="tx1"/>
                </a:solidFill>
              </a:rPr>
              <a:t>expressions:</a:t>
            </a:r>
          </a:p>
          <a:p>
            <a:pPr marL="685800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pt-BR" sz="2100" dirty="0" smtClean="0">
                <a:solidFill>
                  <a:schemeClr val="tx1"/>
                </a:solidFill>
              </a:rPr>
              <a:t>(</a:t>
            </a:r>
            <a:r>
              <a:rPr lang="pt-BR" sz="2100" dirty="0">
                <a:solidFill>
                  <a:schemeClr val="tx1"/>
                </a:solidFill>
              </a:rPr>
              <a:t>A + B) * C</a:t>
            </a:r>
          </a:p>
          <a:p>
            <a:pPr marL="685800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pt-BR" sz="2100" dirty="0">
                <a:solidFill>
                  <a:schemeClr val="tx1"/>
                </a:solidFill>
              </a:rPr>
              <a:t>(A – B) * (C + D)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015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600" dirty="0" smtClean="0"/>
              <a:t>Convert Infix to Postfix Notation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Let I be an algebraic expression written in infix notation.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I may contain parentheses, operands, and operators.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For simplicity of the algorithm, only +,-,*,/ and % operators have been used.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Given </a:t>
            </a:r>
            <a:r>
              <a:rPr lang="en-US" sz="2100" dirty="0">
                <a:solidFill>
                  <a:schemeClr val="tx1"/>
                </a:solidFill>
              </a:rPr>
              <a:t>algorithm will transform an infix expression into postfix expression.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815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600" dirty="0" smtClean="0"/>
              <a:t>Convert Infix to Postfix Notation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28796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 algorithm accepts an infix expression that may contain operators, operands and parentheses.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 operators with the same precedence are performed from left-to-right.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 algorithm uses a stack to temporarily holds operators.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 postfix expression is obtained from left to right using the operands from the infix expression and the operators are removed from the stack.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 very first step is to push a left parenthesis in the stack and add a corresponding right parenthesis at the end of the infix expression.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The algorithm is repeated until the stack is empty.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5335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600" dirty="0" smtClean="0"/>
              <a:t>Convert Infix to Postfix Notation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88392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318450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600" dirty="0" smtClean="0"/>
              <a:t>Convert Infix to Postfix Notation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TextBox 5"/>
          <p:cNvSpPr txBox="1"/>
          <p:nvPr/>
        </p:nvSpPr>
        <p:spPr>
          <a:xfrm>
            <a:off x="546100" y="1892300"/>
            <a:ext cx="1651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924" spc="-30" smtClean="0">
                <a:solidFill>
                  <a:srgbClr val="FD8537"/>
                </a:solidFill>
                <a:latin typeface="Arial Unicode MS"/>
                <a:cs typeface="Arial Unicode MS"/>
              </a:rPr>
              <a:t>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546100" y="2400300"/>
            <a:ext cx="1651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924" spc="-30" smtClean="0">
                <a:solidFill>
                  <a:srgbClr val="FD8537"/>
                </a:solidFill>
                <a:latin typeface="Arial Unicode MS"/>
                <a:cs typeface="Arial Unicode MS"/>
              </a:rPr>
              <a:t>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546100" y="3873500"/>
            <a:ext cx="1651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924" spc="-30" smtClean="0">
                <a:solidFill>
                  <a:srgbClr val="FD8537"/>
                </a:solidFill>
                <a:latin typeface="Arial Unicode MS"/>
                <a:cs typeface="Arial Unicode MS"/>
              </a:rPr>
              <a:t>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0" name="TextBox 19"/>
          <p:cNvSpPr txBox="1"/>
          <p:nvPr/>
        </p:nvSpPr>
        <p:spPr>
          <a:xfrm>
            <a:off x="8432800" y="6502400"/>
            <a:ext cx="711200" cy="241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402" b="1" smtClean="0">
                <a:solidFill>
                  <a:srgbClr val="FFFFFF"/>
                </a:solidFill>
                <a:latin typeface="Century Schoolbook Bold"/>
                <a:cs typeface="Century Schoolbook Bold"/>
              </a:rPr>
              <a:t>30</a:t>
            </a:r>
          </a:p>
          <a:p>
            <a:pPr>
              <a:lnSpc>
                <a:spcPts val="1610"/>
              </a:lnSpc>
            </a:pPr>
            <a:endParaRPr lang="en-CA" sz="1392" dirty="0">
              <a:solidFill>
                <a:srgbClr val="000000"/>
              </a:solidFill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685800" y="1524000"/>
            <a:ext cx="7848600" cy="45720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endParaRPr lang="en-US" sz="2800" dirty="0" smtClean="0"/>
          </a:p>
          <a:p>
            <a:pPr algn="just">
              <a:lnSpc>
                <a:spcPct val="120000"/>
              </a:lnSpc>
            </a:pPr>
            <a:endParaRPr lang="en-US" sz="2800" dirty="0" smtClean="0"/>
          </a:p>
          <a:p>
            <a:pPr algn="just">
              <a:lnSpc>
                <a:spcPct val="120000"/>
              </a:lnSpc>
            </a:pPr>
            <a:endParaRPr lang="en-US" sz="2800" dirty="0" smtClean="0"/>
          </a:p>
          <a:p>
            <a:pPr algn="just">
              <a:lnSpc>
                <a:spcPct val="120000"/>
              </a:lnSpc>
            </a:pPr>
            <a:endParaRPr lang="en-US" sz="2800" dirty="0" smtClean="0"/>
          </a:p>
          <a:p>
            <a:pPr algn="just">
              <a:lnSpc>
                <a:spcPct val="120000"/>
              </a:lnSpc>
            </a:pPr>
            <a:endParaRPr lang="en-US" sz="2800" u="sng" dirty="0" smtClean="0"/>
          </a:p>
          <a:p>
            <a:pPr algn="just">
              <a:lnSpc>
                <a:spcPct val="120000"/>
              </a:lnSpc>
            </a:pPr>
            <a:r>
              <a:rPr lang="en-US" sz="2800" u="sng" dirty="0" smtClean="0"/>
              <a:t>Rules</a:t>
            </a:r>
          </a:p>
          <a:p>
            <a:pPr algn="just">
              <a:lnSpc>
                <a:spcPct val="120000"/>
              </a:lnSpc>
            </a:pPr>
            <a:endParaRPr lang="en-US" sz="2800" dirty="0" smtClean="0"/>
          </a:p>
          <a:p>
            <a:pPr algn="just">
              <a:lnSpc>
                <a:spcPct val="120000"/>
              </a:lnSpc>
            </a:pPr>
            <a:r>
              <a:rPr lang="en-US" sz="2800" dirty="0" smtClean="0"/>
              <a:t>No Two Operator of same priority can stay together in the stack column.</a:t>
            </a:r>
          </a:p>
          <a:p>
            <a:pPr algn="just">
              <a:lnSpc>
                <a:spcPct val="120000"/>
              </a:lnSpc>
            </a:pPr>
            <a:r>
              <a:rPr lang="en-US" sz="2800" dirty="0" smtClean="0"/>
              <a:t>If Previous Operator having the higher priority then current  operator then previous operator will be </a:t>
            </a:r>
            <a:r>
              <a:rPr lang="en-US" sz="2800" dirty="0" err="1" smtClean="0"/>
              <a:t>poped</a:t>
            </a:r>
            <a:r>
              <a:rPr lang="en-US" sz="2800" dirty="0" smtClean="0"/>
              <a:t> out.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57224" y="1428736"/>
          <a:ext cx="492922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611"/>
                <a:gridCol w="2464611"/>
              </a:tblGrid>
              <a:tr h="446488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Operator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PRIORITY</a:t>
                      </a:r>
                      <a:endParaRPr lang="en-US" sz="2400" dirty="0"/>
                    </a:p>
                  </a:txBody>
                  <a:tcPr/>
                </a:tc>
              </a:tr>
              <a:tr h="446488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^ , 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</a:tr>
              <a:tr h="446488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* , /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</a:tr>
              <a:tr h="446488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+ , 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05335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600" dirty="0" smtClean="0"/>
              <a:t>Convert Infix to Postfix Notation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graphicFrame>
        <p:nvGraphicFramePr>
          <p:cNvPr id="7" name="Group 4"/>
          <p:cNvGraphicFramePr>
            <a:graphicFrameLocks noGrp="1"/>
          </p:cNvGraphicFramePr>
          <p:nvPr/>
        </p:nvGraphicFramePr>
        <p:xfrm>
          <a:off x="357158" y="1279230"/>
          <a:ext cx="8501123" cy="5364480"/>
        </p:xfrm>
        <a:graphic>
          <a:graphicData uri="http://schemas.openxmlformats.org/drawingml/2006/table">
            <a:tbl>
              <a:tblPr/>
              <a:tblGrid>
                <a:gridCol w="3041771"/>
                <a:gridCol w="1898344"/>
                <a:gridCol w="3561008"/>
              </a:tblGrid>
              <a:tr h="2883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Infix Character Scanned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STACK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Postfix Expression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+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B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/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C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*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ABC/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(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(+*(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ABC/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D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(+*(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ABC/D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+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(+*(+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ABC/D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(+*(+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ABC/DE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ABC/DE+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-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ABC/DE+*+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F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ABC/DE+*+F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ABC/DE+*+F-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28596" y="857232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eaLnBrk="0" hangingPunct="0"/>
            <a:r>
              <a:rPr lang="en-US" b="1" dirty="0" smtClean="0">
                <a:latin typeface="Courier New" pitchFamily="49" charset="0"/>
                <a:cs typeface="Times New Roman" pitchFamily="18" charset="0"/>
              </a:rPr>
              <a:t>(A+B/C*(D+E)-F)</a:t>
            </a:r>
          </a:p>
        </p:txBody>
      </p:sp>
    </p:spTree>
    <p:extLst>
      <p:ext uri="{BB962C8B-B14F-4D97-AF65-F5344CB8AC3E}">
        <p14:creationId xmlns:p14="http://schemas.microsoft.com/office/powerpoint/2010/main" xmlns="" val="105335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600" dirty="0" smtClean="0"/>
              <a:t>Convert Infix to Postfix Notation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graphicFrame>
        <p:nvGraphicFramePr>
          <p:cNvPr id="9" name="Group 4"/>
          <p:cNvGraphicFramePr>
            <a:graphicFrameLocks noGrp="1"/>
          </p:cNvGraphicFramePr>
          <p:nvPr/>
        </p:nvGraphicFramePr>
        <p:xfrm>
          <a:off x="428596" y="1428736"/>
          <a:ext cx="8501123" cy="4693920"/>
        </p:xfrm>
        <a:graphic>
          <a:graphicData uri="http://schemas.openxmlformats.org/drawingml/2006/table">
            <a:tbl>
              <a:tblPr/>
              <a:tblGrid>
                <a:gridCol w="3041771"/>
                <a:gridCol w="1898344"/>
                <a:gridCol w="3561008"/>
              </a:tblGrid>
              <a:tr h="2883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Infix Character Scanned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STACK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Postfix Expression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*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B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C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AB*C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Times New Roman" pitchFamily="18" charset="0"/>
                        </a:rPr>
                        <a:t>/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AB*C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(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(+/(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AB*C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D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(+/(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AB*CD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(+/(-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AB*CD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(+/(-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AB*CDE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dirty="0" smtClean="0">
                          <a:latin typeface="Courier New" pitchFamily="49" charset="0"/>
                          <a:cs typeface="Times New Roman" pitchFamily="18" charset="0"/>
                        </a:rPr>
                        <a:t>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AB*CDE-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AB*CDE-/+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28596" y="785794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eaLnBrk="0" hangingPunct="0"/>
            <a:r>
              <a:rPr lang="en-US" b="1" dirty="0" smtClean="0">
                <a:latin typeface="Courier New" pitchFamily="49" charset="0"/>
                <a:cs typeface="Times New Roman" pitchFamily="18" charset="0"/>
              </a:rPr>
              <a:t>(A*B+C/(D-E))</a:t>
            </a:r>
          </a:p>
        </p:txBody>
      </p:sp>
    </p:spTree>
    <p:extLst>
      <p:ext uri="{BB962C8B-B14F-4D97-AF65-F5344CB8AC3E}">
        <p14:creationId xmlns:p14="http://schemas.microsoft.com/office/powerpoint/2010/main" xmlns="" val="105335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600" dirty="0" smtClean="0"/>
              <a:t>Convert Infix to Prefix Notation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287963"/>
          </a:xfrm>
        </p:spPr>
        <p:txBody>
          <a:bodyPr>
            <a:normAutofit/>
          </a:bodyPr>
          <a:lstStyle/>
          <a:p>
            <a:pPr marL="1028700" indent="-1028700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4325" y="1295400"/>
            <a:ext cx="851535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70694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500430" y="357166"/>
            <a:ext cx="438629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2500" b="1" dirty="0" smtClean="0">
                <a:latin typeface="Courier New" pitchFamily="49" charset="0"/>
                <a:cs typeface="Times New Roman" pitchFamily="18" charset="0"/>
              </a:rPr>
              <a:t>((</a:t>
            </a:r>
            <a:r>
              <a:rPr lang="en-US" sz="2500" b="1" dirty="0">
                <a:latin typeface="Courier New" pitchFamily="49" charset="0"/>
                <a:cs typeface="Times New Roman" pitchFamily="18" charset="0"/>
              </a:rPr>
              <a:t>E-D)/</a:t>
            </a:r>
            <a:r>
              <a:rPr lang="en-US" sz="2500" b="1" dirty="0" smtClean="0">
                <a:latin typeface="Courier New" pitchFamily="49" charset="0"/>
                <a:cs typeface="Times New Roman" pitchFamily="18" charset="0"/>
              </a:rPr>
              <a:t>C+B*A)</a:t>
            </a:r>
            <a:endParaRPr lang="en-US" sz="2500" b="1" dirty="0">
              <a:latin typeface="Courier New" pitchFamily="49" charset="0"/>
              <a:cs typeface="Times New Roman" pitchFamily="18" charset="0"/>
            </a:endParaRPr>
          </a:p>
        </p:txBody>
      </p:sp>
      <p:graphicFrame>
        <p:nvGraphicFramePr>
          <p:cNvPr id="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82521863"/>
              </p:ext>
            </p:extLst>
          </p:nvPr>
        </p:nvGraphicFramePr>
        <p:xfrm>
          <a:off x="261877" y="944880"/>
          <a:ext cx="8501123" cy="4693920"/>
        </p:xfrm>
        <a:graphic>
          <a:graphicData uri="http://schemas.openxmlformats.org/drawingml/2006/table">
            <a:tbl>
              <a:tblPr/>
              <a:tblGrid>
                <a:gridCol w="3041771"/>
                <a:gridCol w="1898344"/>
                <a:gridCol w="3561008"/>
              </a:tblGrid>
              <a:tr h="2883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Infix Character Scanned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STACK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Postfix Expression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Times New Roman" pitchFamily="18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((-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((-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ED-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ED-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ED-C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ED-C/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ED-C/B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ED-C/B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(+*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ED-C/BA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883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charset="0"/>
                        <a:ea typeface="Times New Roman" pitchFamily="18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Courier New" pitchFamily="49" charset="0"/>
                        </a:rPr>
                        <a:t>ED-C/BA*+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95310" y="5867400"/>
            <a:ext cx="225269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hangingPunct="0"/>
            <a:r>
              <a:rPr lang="en-US" sz="2200" b="1" dirty="0" smtClean="0">
                <a:latin typeface="Courier New" pitchFamily="49" charset="0"/>
                <a:cs typeface="Times New Roman" pitchFamily="18" charset="0"/>
              </a:rPr>
              <a:t>+*AB/C-DE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7158" y="357166"/>
            <a:ext cx="307183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hangingPunct="0"/>
            <a:r>
              <a:rPr lang="en-US" sz="2500" b="1" dirty="0" smtClean="0">
                <a:latin typeface="Courier New" pitchFamily="49" charset="0"/>
                <a:cs typeface="Times New Roman" pitchFamily="18" charset="0"/>
              </a:rPr>
              <a:t>(A*B+C/(D-E))</a:t>
            </a:r>
          </a:p>
        </p:txBody>
      </p:sp>
    </p:spTree>
    <p:extLst>
      <p:ext uri="{BB962C8B-B14F-4D97-AF65-F5344CB8AC3E}">
        <p14:creationId xmlns:p14="http://schemas.microsoft.com/office/powerpoint/2010/main" xmlns="" val="31792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762000"/>
            <a:ext cx="8305800" cy="54864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Like stacks, </a:t>
            </a:r>
            <a:r>
              <a:rPr lang="en-US" sz="2200" b="1" dirty="0">
                <a:solidFill>
                  <a:schemeClr val="tx1"/>
                </a:solidFill>
              </a:rPr>
              <a:t>queues are also one of the important data structures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which store their elements in an ordered manner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Examples :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</a:rPr>
              <a:t>People moving in an escalator.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</a:rPr>
              <a:t>People waiting for bus.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</a:rPr>
              <a:t>People standing outside the ticketing window of a cinema hall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</a:rPr>
              <a:t>Luggage kept on conveyor belt.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</a:rPr>
              <a:t>Cars lined for filling petrol.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</a:rPr>
              <a:t>Cars lined at a toll bridge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  <a:endParaRPr lang="en-US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Same is the case with data structure.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Queue  </a:t>
            </a:r>
            <a:endParaRPr lang="en-US" sz="30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4277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762000"/>
            <a:ext cx="8305800" cy="54864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u="sng" dirty="0" smtClean="0">
                <a:solidFill>
                  <a:schemeClr val="tx1"/>
                </a:solidFill>
              </a:rPr>
              <a:t>A </a:t>
            </a:r>
            <a:r>
              <a:rPr lang="en-US" sz="2200" u="sng" dirty="0">
                <a:solidFill>
                  <a:schemeClr val="tx1"/>
                </a:solidFill>
              </a:rPr>
              <a:t>queue is a </a:t>
            </a:r>
            <a:r>
              <a:rPr lang="en-US" sz="2200" b="1" u="sng" dirty="0">
                <a:solidFill>
                  <a:schemeClr val="tx1"/>
                </a:solidFill>
              </a:rPr>
              <a:t>FIFO (First In First Out) </a:t>
            </a:r>
            <a:r>
              <a:rPr lang="en-US" sz="2200" u="sng" dirty="0">
                <a:solidFill>
                  <a:schemeClr val="tx1"/>
                </a:solidFill>
              </a:rPr>
              <a:t>data structure in which </a:t>
            </a:r>
            <a:r>
              <a:rPr lang="en-US" sz="2200" b="1" u="sng" dirty="0">
                <a:solidFill>
                  <a:schemeClr val="tx1"/>
                </a:solidFill>
              </a:rPr>
              <a:t>each element that was inserted first is the first </a:t>
            </a:r>
            <a:r>
              <a:rPr lang="en-US" sz="2200" b="1" u="sng">
                <a:solidFill>
                  <a:schemeClr val="tx1"/>
                </a:solidFill>
              </a:rPr>
              <a:t>one </a:t>
            </a:r>
            <a:r>
              <a:rPr lang="en-US" sz="2200" b="1" u="sng" smtClean="0">
                <a:solidFill>
                  <a:schemeClr val="tx1"/>
                </a:solidFill>
              </a:rPr>
              <a:t>to be </a:t>
            </a:r>
            <a:r>
              <a:rPr lang="en-US" sz="2200" b="1" u="sng" dirty="0">
                <a:solidFill>
                  <a:schemeClr val="tx1"/>
                </a:solidFill>
              </a:rPr>
              <a:t>taken out</a:t>
            </a:r>
            <a:r>
              <a:rPr lang="en-US" sz="2200" u="sng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u="sng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The elements in a queue are </a:t>
            </a:r>
            <a:r>
              <a:rPr lang="en-US" sz="2200" b="1" u="sng" dirty="0">
                <a:solidFill>
                  <a:schemeClr val="tx1"/>
                </a:solidFill>
              </a:rPr>
              <a:t>added at one end called the rear</a:t>
            </a:r>
            <a:r>
              <a:rPr lang="en-US" sz="2200" dirty="0">
                <a:solidFill>
                  <a:schemeClr val="tx1"/>
                </a:solidFill>
              </a:rPr>
              <a:t> and </a:t>
            </a:r>
            <a:r>
              <a:rPr lang="en-US" sz="2200" b="1" u="sng" dirty="0">
                <a:solidFill>
                  <a:schemeClr val="tx1"/>
                </a:solidFill>
              </a:rPr>
              <a:t>removed from the other end called the front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Queues can be implemented using either </a:t>
            </a:r>
            <a:r>
              <a:rPr lang="en-US" sz="2200" b="1" dirty="0">
                <a:solidFill>
                  <a:schemeClr val="tx1"/>
                </a:solidFill>
              </a:rPr>
              <a:t>arrays or linked list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Queue  </a:t>
            </a:r>
            <a:endParaRPr lang="en-US" sz="30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6621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800" dirty="0" smtClean="0"/>
              <a:t>Types of Queues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7620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There are four types of Queue: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100" dirty="0" smtClean="0">
                <a:solidFill>
                  <a:schemeClr val="tx1"/>
                </a:solidFill>
              </a:rPr>
              <a:t>Simple Queue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100" dirty="0" smtClean="0">
                <a:solidFill>
                  <a:schemeClr val="tx1"/>
                </a:solidFill>
              </a:rPr>
              <a:t>Circular Queue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100" dirty="0" smtClean="0">
                <a:solidFill>
                  <a:schemeClr val="tx1"/>
                </a:solidFill>
              </a:rPr>
              <a:t>Priority Queue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100" dirty="0" smtClean="0">
                <a:solidFill>
                  <a:schemeClr val="tx1"/>
                </a:solidFill>
              </a:rPr>
              <a:t>Dequeue (Double Ended Queue)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1057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762000"/>
            <a:ext cx="8305800" cy="54864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Queues can easily be represented using linear arrays.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Every queue will have front and rear variables that will point to the position from where deletions and insertions can be performed respectively.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Front : 0, rear: 5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Simple Queue  </a:t>
            </a:r>
            <a:endParaRPr lang="en-US" sz="30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90874"/>
            <a:ext cx="632460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5482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2700" dirty="0" smtClean="0"/>
              <a:t>Operations on a simple Queue: Insertion </a:t>
            </a:r>
            <a:endParaRPr lang="en-US" sz="27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762000"/>
            <a:ext cx="8305800" cy="5287963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Now if new value is needed to be added, say 45: then rear would be incremented by 1.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 smtClean="0">
                <a:solidFill>
                  <a:schemeClr val="tx1"/>
                </a:solidFill>
              </a:rPr>
              <a:t>Front </a:t>
            </a:r>
            <a:r>
              <a:rPr lang="en-US" sz="2100" dirty="0">
                <a:solidFill>
                  <a:schemeClr val="tx1"/>
                </a:solidFill>
              </a:rPr>
              <a:t>: 0, rear: 6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Every time a new element has to be added, the same procedure is repeated.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An </a:t>
            </a:r>
            <a:r>
              <a:rPr lang="en-US" sz="2100" b="1" dirty="0">
                <a:solidFill>
                  <a:schemeClr val="tx1"/>
                </a:solidFill>
              </a:rPr>
              <a:t>overflow</a:t>
            </a:r>
            <a:r>
              <a:rPr lang="en-US" sz="2100" dirty="0">
                <a:solidFill>
                  <a:schemeClr val="tx1"/>
                </a:solidFill>
              </a:rPr>
              <a:t> will occur when we try to insert an element into </a:t>
            </a:r>
            <a:r>
              <a:rPr lang="en-US" sz="2100" b="1" dirty="0">
                <a:solidFill>
                  <a:schemeClr val="tx1"/>
                </a:solidFill>
              </a:rPr>
              <a:t>a queue that is already full.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When </a:t>
            </a:r>
            <a:r>
              <a:rPr lang="en-US" sz="2100" b="1" dirty="0" smtClean="0">
                <a:solidFill>
                  <a:schemeClr val="tx1"/>
                </a:solidFill>
              </a:rPr>
              <a:t>rear=MAX-1, </a:t>
            </a:r>
            <a:r>
              <a:rPr lang="en-US" sz="2100" dirty="0">
                <a:solidFill>
                  <a:schemeClr val="tx1"/>
                </a:solidFill>
              </a:rPr>
              <a:t>where MAX is the size of a </a:t>
            </a:r>
            <a:r>
              <a:rPr lang="en-US" sz="2100" dirty="0" smtClean="0">
                <a:solidFill>
                  <a:schemeClr val="tx1"/>
                </a:solidFill>
              </a:rPr>
              <a:t>queue overflow occurs.</a:t>
            </a: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Note that MAX-1 has been written as array index starts from 0.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716911"/>
            <a:ext cx="5791200" cy="1026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00200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2700" dirty="0" smtClean="0"/>
              <a:t>An algorithm to insert an element in a simple queue </a:t>
            </a:r>
            <a:endParaRPr lang="en-US" sz="27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7620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76350"/>
            <a:ext cx="5486400" cy="466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64696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l"/>
            <a:r>
              <a:rPr lang="en-US" sz="2800" dirty="0"/>
              <a:t>Operations on a simple Queue: </a:t>
            </a:r>
            <a:r>
              <a:rPr lang="en-US" sz="2800" dirty="0" smtClean="0"/>
              <a:t>Deletion 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7620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Now if we want to delete an element from the queue, then the value of front will be incremented.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Deletions are done from this one end of the queue only.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Front : 1, rear: 6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An </a:t>
            </a:r>
            <a:r>
              <a:rPr lang="en-US" sz="2100" b="1" dirty="0">
                <a:solidFill>
                  <a:schemeClr val="tx1"/>
                </a:solidFill>
              </a:rPr>
              <a:t>underflow</a:t>
            </a:r>
            <a:r>
              <a:rPr lang="en-US" sz="2100" dirty="0">
                <a:solidFill>
                  <a:schemeClr val="tx1"/>
                </a:solidFill>
              </a:rPr>
              <a:t> condition occurs when we try to delete an element from </a:t>
            </a:r>
            <a:r>
              <a:rPr lang="en-US" sz="2100" b="1" dirty="0">
                <a:solidFill>
                  <a:schemeClr val="tx1"/>
                </a:solidFill>
              </a:rPr>
              <a:t>a queue that is already empty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100" dirty="0">
                <a:solidFill>
                  <a:schemeClr val="tx1"/>
                </a:solidFill>
              </a:rPr>
              <a:t>If </a:t>
            </a:r>
            <a:r>
              <a:rPr lang="en-US" sz="2100" b="1" dirty="0">
                <a:solidFill>
                  <a:schemeClr val="tx1"/>
                </a:solidFill>
              </a:rPr>
              <a:t>front=-1 and rear=-1</a:t>
            </a:r>
            <a:r>
              <a:rPr lang="en-US" sz="2100" dirty="0">
                <a:solidFill>
                  <a:schemeClr val="tx1"/>
                </a:solidFill>
              </a:rPr>
              <a:t>, this means there is no element in the queue.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62200"/>
            <a:ext cx="57149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76489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pPr algn="just"/>
            <a:r>
              <a:rPr lang="en-US" sz="2500" dirty="0" smtClean="0"/>
              <a:t>An algorithm to delete an element from a simple queue </a:t>
            </a:r>
            <a:endParaRPr lang="en-US" sz="25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762000"/>
            <a:ext cx="8305800" cy="5287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1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b="1" i="1" u="sng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00174"/>
            <a:ext cx="7443322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80804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Stack Vs. Queue</a:t>
            </a:r>
            <a:endParaRPr lang="en-US" sz="30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8596" y="642918"/>
          <a:ext cx="8501122" cy="58960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5752"/>
                <a:gridCol w="4244097"/>
                <a:gridCol w="3971273"/>
              </a:tblGrid>
              <a:tr h="3832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cap="all" dirty="0"/>
                        <a:t>#</a:t>
                      </a:r>
                      <a:endParaRPr lang="en-US" sz="1100" b="1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cap="all"/>
                        <a:t>STACK</a:t>
                      </a:r>
                      <a:endParaRPr lang="en-US" sz="1100" b="1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cap="all" dirty="0"/>
                        <a:t>QUEUE</a:t>
                      </a:r>
                      <a:endParaRPr lang="en-US" sz="1100" b="1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</a:tr>
              <a:tr h="7412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Objects are inserted and removed at the same end.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/>
                        <a:t>Objects are inserted and removed from different ends.</a:t>
                      </a:r>
                      <a:endParaRPr lang="en-US" sz="110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</a:tr>
              <a:tr h="7412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In stacks only one </a:t>
                      </a:r>
                      <a:r>
                        <a:rPr lang="en-US" sz="2000" dirty="0" smtClean="0"/>
                        <a:t>variable is </a:t>
                      </a:r>
                      <a:r>
                        <a:rPr lang="en-US" sz="2000" dirty="0"/>
                        <a:t>used. It points to the top of the stack.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In queues, two </a:t>
                      </a:r>
                      <a:r>
                        <a:rPr lang="en-US" sz="2000" smtClean="0"/>
                        <a:t>different variables are </a:t>
                      </a:r>
                      <a:r>
                        <a:rPr lang="en-US" sz="2000" dirty="0"/>
                        <a:t>used for front and rear ends.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</a:tr>
              <a:tr h="7412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/>
                        <a:t>In stacks, the last inserted object is first to come out.</a:t>
                      </a:r>
                      <a:endParaRPr lang="en-US" sz="110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/>
                        <a:t>In queues, the object inserted first is first deleted.</a:t>
                      </a:r>
                      <a:endParaRPr lang="en-US" sz="110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</a:tr>
              <a:tr h="7412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Stacks follow Last In First Out (LIFO) order.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Queues following First In First Out (FIFO) order.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</a:tr>
              <a:tr h="7412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Stack operations are called push and pop.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/>
                        <a:t>Queue operations are called enqueue and dequeue.</a:t>
                      </a:r>
                      <a:endParaRPr lang="en-US" sz="110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</a:tr>
              <a:tr h="7412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/>
                        <a:t>Stacks are visualized as vertical collections.</a:t>
                      </a:r>
                      <a:endParaRPr lang="en-US" sz="110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/>
                        <a:t>Queues are visualized as horizontal collections.</a:t>
                      </a:r>
                      <a:endParaRPr lang="en-US" sz="110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</a:tr>
              <a:tr h="7412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/>
                        <a:t>Collection of dinner plates at a wedding reception is an example of stack.</a:t>
                      </a:r>
                      <a:endParaRPr lang="en-US" sz="110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/>
                        <a:t>People standing in a file to board a bus is an example of queue.</a:t>
                      </a:r>
                      <a:endParaRPr lang="en-US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788" marR="6788" marT="6788" marB="6788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1437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600200"/>
          </a:xfrm>
        </p:spPr>
        <p:txBody>
          <a:bodyPr/>
          <a:lstStyle/>
          <a:p>
            <a:r>
              <a:rPr lang="en-US" dirty="0" smtClean="0"/>
              <a:t>Thank You...!!!!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7653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4267</TotalTime>
  <Words>2354</Words>
  <Application>Microsoft Office PowerPoint</Application>
  <PresentationFormat>On-screen Show (4:3)</PresentationFormat>
  <Paragraphs>710</Paragraphs>
  <Slides>44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Executive</vt:lpstr>
      <vt:lpstr>Unit-2   Stack &amp; Queue</vt:lpstr>
      <vt:lpstr>Unit-2</vt:lpstr>
      <vt:lpstr>Stack </vt:lpstr>
      <vt:lpstr>Stack </vt:lpstr>
      <vt:lpstr>Array representation of Stack </vt:lpstr>
      <vt:lpstr>Array representation of Stack </vt:lpstr>
      <vt:lpstr>Operations on a Stack </vt:lpstr>
      <vt:lpstr>1. Push Operation</vt:lpstr>
      <vt:lpstr>1. Push Operation</vt:lpstr>
      <vt:lpstr>1. Push Operation</vt:lpstr>
      <vt:lpstr>2. Pop Operation</vt:lpstr>
      <vt:lpstr>2. Pop Operation</vt:lpstr>
      <vt:lpstr>3. Peek Operation</vt:lpstr>
      <vt:lpstr>4. Update Operation</vt:lpstr>
      <vt:lpstr>Applications of Stack </vt:lpstr>
      <vt:lpstr>Recursion </vt:lpstr>
      <vt:lpstr>Recursion </vt:lpstr>
      <vt:lpstr>Recursion </vt:lpstr>
      <vt:lpstr>Iteration Vs. Recursion </vt:lpstr>
      <vt:lpstr>Iteration Vs. Recursion </vt:lpstr>
      <vt:lpstr>Iteration Vs. Recursion </vt:lpstr>
      <vt:lpstr>Polish Notations</vt:lpstr>
      <vt:lpstr>Infix Notation</vt:lpstr>
      <vt:lpstr>Postfix Notation</vt:lpstr>
      <vt:lpstr>Postfix Notation</vt:lpstr>
      <vt:lpstr>Prefix Notation</vt:lpstr>
      <vt:lpstr>Convert Infix to Postfix Notation</vt:lpstr>
      <vt:lpstr>Convert Infix to Postfix Notation</vt:lpstr>
      <vt:lpstr>Convert Infix to Postfix Notation</vt:lpstr>
      <vt:lpstr>Convert Infix to Postfix Notation</vt:lpstr>
      <vt:lpstr>Convert Infix to Postfix Notation</vt:lpstr>
      <vt:lpstr>Convert Infix to Postfix Notation</vt:lpstr>
      <vt:lpstr>Convert Infix to Prefix Notation</vt:lpstr>
      <vt:lpstr>Slide 34</vt:lpstr>
      <vt:lpstr>Queue  </vt:lpstr>
      <vt:lpstr>Queue  </vt:lpstr>
      <vt:lpstr>Types of Queues</vt:lpstr>
      <vt:lpstr>Simple Queue  </vt:lpstr>
      <vt:lpstr>Operations on a simple Queue: Insertion </vt:lpstr>
      <vt:lpstr>An algorithm to insert an element in a simple queue </vt:lpstr>
      <vt:lpstr>Operations on a simple Queue: Deletion </vt:lpstr>
      <vt:lpstr>An algorithm to delete an element from a simple queue </vt:lpstr>
      <vt:lpstr>Stack Vs. Queue</vt:lpstr>
      <vt:lpstr>Thank You...!!!!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Unit-1  Basic concepts of Design and Analysis of Algorithm</dc:title>
  <dc:creator>Windows User</dc:creator>
  <cp:lastModifiedBy>admin</cp:lastModifiedBy>
  <cp:revision>362</cp:revision>
  <dcterms:created xsi:type="dcterms:W3CDTF">2018-06-25T13:25:34Z</dcterms:created>
  <dcterms:modified xsi:type="dcterms:W3CDTF">2024-07-01T04:59:51Z</dcterms:modified>
</cp:coreProperties>
</file>