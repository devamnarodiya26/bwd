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326" r:id="rId4"/>
    <p:sldId id="327" r:id="rId5"/>
    <p:sldId id="328" r:id="rId6"/>
    <p:sldId id="335" r:id="rId7"/>
    <p:sldId id="351" r:id="rId8"/>
    <p:sldId id="354" r:id="rId9"/>
    <p:sldId id="353" r:id="rId10"/>
    <p:sldId id="355" r:id="rId11"/>
    <p:sldId id="356" r:id="rId12"/>
    <p:sldId id="357" r:id="rId13"/>
    <p:sldId id="349" r:id="rId14"/>
    <p:sldId id="358" r:id="rId15"/>
    <p:sldId id="352" r:id="rId16"/>
    <p:sldId id="359" r:id="rId17"/>
    <p:sldId id="350" r:id="rId18"/>
    <p:sldId id="334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4" r:id="rId27"/>
    <p:sldId id="343" r:id="rId28"/>
    <p:sldId id="345" r:id="rId29"/>
    <p:sldId id="346" r:id="rId30"/>
    <p:sldId id="348" r:id="rId31"/>
    <p:sldId id="347" r:id="rId32"/>
    <p:sldId id="325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18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F2404-23A5-4CE1-B681-C56CA191580F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C0B6F-9BF7-495D-B172-86C014DC5B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203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B6F-9BF7-495D-B172-86C014DC5BB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B6F-9BF7-495D-B172-86C014DC5BB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B6F-9BF7-495D-B172-86C014DC5BB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B6F-9BF7-495D-B172-86C014DC5BB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B6F-9BF7-495D-B172-86C014DC5BB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B6F-9BF7-495D-B172-86C014DC5BB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015DB4-C0A9-4A3A-85D0-F92F39D0E4E6}" type="datetimeFigureOut">
              <a:rPr lang="en-US" smtClean="0"/>
              <a:pPr/>
              <a:t>7/3/2023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79DB4B1-9568-4BEA-8A06-5660C7EB8C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4000" i="1" u="sng" dirty="0" smtClean="0"/>
              <a:t>Unit-1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 Introduction of Data Structure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6868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sz="3400" dirty="0" smtClean="0"/>
              <a:t>Unit-1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100" b="1" dirty="0" smtClean="0">
                <a:solidFill>
                  <a:schemeClr val="tx1"/>
                </a:solidFill>
              </a:rPr>
              <a:t>Introduction of Data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100" b="1" dirty="0" smtClean="0">
                <a:solidFill>
                  <a:schemeClr val="tx1"/>
                </a:solidFill>
              </a:rPr>
              <a:t>Introduction of Data type</a:t>
            </a:r>
            <a:endParaRPr lang="en-US" sz="21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100" b="1" dirty="0" smtClean="0">
                <a:solidFill>
                  <a:schemeClr val="tx1"/>
                </a:solidFill>
              </a:rPr>
              <a:t>Introduction of Data Structure</a:t>
            </a:r>
            <a:endParaRPr lang="en-US" sz="21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100" b="1" dirty="0" smtClean="0">
                <a:solidFill>
                  <a:schemeClr val="tx1"/>
                </a:solidFill>
              </a:rPr>
              <a:t>Primitive and non-primitive data structure</a:t>
            </a:r>
            <a:endParaRPr lang="en-US" sz="2100" b="1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100" b="1" dirty="0" smtClean="0">
                <a:solidFill>
                  <a:schemeClr val="tx1"/>
                </a:solidFill>
              </a:rPr>
              <a:t>Complexity of Data Structure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IN" sz="2100" b="1" dirty="0" smtClean="0">
                <a:solidFill>
                  <a:schemeClr val="tx1"/>
                </a:solidFill>
              </a:rPr>
              <a:t>Analysis of Algorithm</a:t>
            </a:r>
            <a:endParaRPr lang="en-US" sz="2100" b="1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1560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Data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b="1" u="sng" dirty="0" smtClean="0">
                <a:solidFill>
                  <a:schemeClr val="tx1"/>
                </a:solidFill>
              </a:rPr>
              <a:t>Data</a:t>
            </a:r>
            <a:r>
              <a:rPr lang="en-US" sz="2200" u="sng" dirty="0" smtClean="0">
                <a:solidFill>
                  <a:schemeClr val="tx1"/>
                </a:solidFill>
              </a:rPr>
              <a:t> is distinct pieces of information.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Data can exist in a variety of forms: </a:t>
            </a:r>
          </a:p>
          <a:p>
            <a:pPr marL="6858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</a:rPr>
              <a:t>Numbers or texts on pieces of paper</a:t>
            </a:r>
          </a:p>
          <a:p>
            <a:pPr marL="6858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</a:rPr>
              <a:t>Bits or bytes stored in electronic memory</a:t>
            </a:r>
          </a:p>
          <a:p>
            <a:pPr marL="6858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</a:rPr>
              <a:t>Facts stored in human’s mind</a:t>
            </a:r>
            <a:endParaRPr lang="en-US" sz="2200" b="1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People have used the word </a:t>
            </a:r>
            <a:r>
              <a:rPr lang="en-US" sz="2200" b="1" dirty="0" smtClean="0">
                <a:solidFill>
                  <a:schemeClr val="tx1"/>
                </a:solidFill>
              </a:rPr>
              <a:t>DATA</a:t>
            </a:r>
            <a:r>
              <a:rPr lang="en-US" sz="2200" dirty="0" smtClean="0">
                <a:solidFill>
                  <a:schemeClr val="tx1"/>
                </a:solidFill>
              </a:rPr>
              <a:t> to mean </a:t>
            </a:r>
            <a:r>
              <a:rPr lang="en-US" sz="2200" u="sng" dirty="0" smtClean="0">
                <a:solidFill>
                  <a:schemeClr val="tx1"/>
                </a:solidFill>
              </a:rPr>
              <a:t>computer information that is transmitted or stored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Strictly speaking data is a </a:t>
            </a:r>
            <a:r>
              <a:rPr lang="en-US" sz="2200" b="1" dirty="0" smtClean="0">
                <a:solidFill>
                  <a:schemeClr val="tx1"/>
                </a:solidFill>
              </a:rPr>
              <a:t>plural of datum</a:t>
            </a:r>
            <a:r>
              <a:rPr lang="en-US" sz="2200" dirty="0" smtClean="0">
                <a:solidFill>
                  <a:schemeClr val="tx1"/>
                </a:solidFill>
              </a:rPr>
              <a:t>, a single piece of information</a:t>
            </a:r>
            <a:r>
              <a:rPr lang="en-US" sz="2200" b="1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In practice, however, people use data as both the singular and plural form of the word.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780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Datatype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b="1" dirty="0" smtClean="0">
                <a:solidFill>
                  <a:schemeClr val="tx1"/>
                </a:solidFill>
              </a:rPr>
              <a:t>Data types </a:t>
            </a:r>
            <a:r>
              <a:rPr lang="en-US" sz="2200" u="sng" dirty="0" smtClean="0">
                <a:solidFill>
                  <a:schemeClr val="tx1"/>
                </a:solidFill>
              </a:rPr>
              <a:t>specify how we enter data into our programs and what type of data we enter</a:t>
            </a:r>
            <a:r>
              <a:rPr lang="en-US" sz="22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C language has some predefined set of data types to handle various kinds of data that we can use in our program.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u="sng" dirty="0" smtClean="0">
                <a:solidFill>
                  <a:schemeClr val="tx1"/>
                </a:solidFill>
              </a:rPr>
              <a:t>C data types are used to</a:t>
            </a:r>
            <a:r>
              <a:rPr lang="en-US" sz="2200" dirty="0" smtClean="0">
                <a:solidFill>
                  <a:schemeClr val="tx1"/>
                </a:solidFill>
              </a:rPr>
              <a:t>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Identify the </a:t>
            </a:r>
            <a:r>
              <a:rPr lang="en-US" sz="1900" b="1" dirty="0" smtClean="0">
                <a:solidFill>
                  <a:schemeClr val="tx1"/>
                </a:solidFill>
              </a:rPr>
              <a:t>type of the variable </a:t>
            </a:r>
            <a:r>
              <a:rPr lang="en-US" sz="1900" dirty="0" smtClean="0">
                <a:solidFill>
                  <a:schemeClr val="tx1"/>
                </a:solidFill>
              </a:rPr>
              <a:t>when it is declared.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Identify the </a:t>
            </a:r>
            <a:r>
              <a:rPr lang="en-US" sz="1900" b="1" dirty="0" smtClean="0">
                <a:solidFill>
                  <a:schemeClr val="tx1"/>
                </a:solidFill>
              </a:rPr>
              <a:t>type of the return value of a function</a:t>
            </a:r>
            <a:r>
              <a:rPr lang="en-US" sz="19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Identify the </a:t>
            </a:r>
            <a:r>
              <a:rPr lang="en-US" sz="1900" b="1" dirty="0" smtClean="0">
                <a:solidFill>
                  <a:schemeClr val="tx1"/>
                </a:solidFill>
              </a:rPr>
              <a:t>type of the parameter expected by a function</a:t>
            </a:r>
            <a:r>
              <a:rPr lang="en-US" sz="1900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062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81000" y="5257800"/>
            <a:ext cx="69342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4038600"/>
            <a:ext cx="69342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81000" y="2819400"/>
            <a:ext cx="69342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Datatype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762001"/>
            <a:ext cx="8305800" cy="54102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C language supports three different data types:</a:t>
            </a:r>
          </a:p>
          <a:p>
            <a:pPr marL="800100" indent="-285750" algn="just">
              <a:lnSpc>
                <a:spcPct val="150000"/>
              </a:lnSpc>
              <a:buAutoNum type="arabicPeriod"/>
            </a:pPr>
            <a:r>
              <a:rPr lang="en-US" sz="1900" b="1" dirty="0" smtClean="0">
                <a:solidFill>
                  <a:schemeClr val="tx1"/>
                </a:solidFill>
              </a:rPr>
              <a:t>Primary data types</a:t>
            </a:r>
          </a:p>
          <a:p>
            <a:pPr marL="800100" indent="-285750" algn="just">
              <a:lnSpc>
                <a:spcPct val="150000"/>
              </a:lnSpc>
              <a:buAutoNum type="arabicPeriod"/>
            </a:pPr>
            <a:r>
              <a:rPr lang="en-US" sz="1900" b="1" dirty="0" smtClean="0">
                <a:solidFill>
                  <a:schemeClr val="tx1"/>
                </a:solidFill>
              </a:rPr>
              <a:t>Derived data types</a:t>
            </a:r>
          </a:p>
          <a:p>
            <a:pPr marL="800100" indent="-285750" algn="just">
              <a:lnSpc>
                <a:spcPct val="150000"/>
              </a:lnSpc>
              <a:buAutoNum type="arabicPeriod"/>
            </a:pPr>
            <a:r>
              <a:rPr lang="en-US" sz="1900" b="1" dirty="0" smtClean="0">
                <a:solidFill>
                  <a:schemeClr val="tx1"/>
                </a:solidFill>
              </a:rPr>
              <a:t>User defined data types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900" b="1" u="sng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u="sng" dirty="0" smtClean="0">
                <a:solidFill>
                  <a:schemeClr val="tx1"/>
                </a:solidFill>
              </a:rPr>
              <a:t>Primary (Built-in) Data types: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dirty="0" smtClean="0">
                <a:solidFill>
                  <a:schemeClr val="tx1"/>
                </a:solidFill>
              </a:rPr>
              <a:t>	void, int, char, float and double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900" b="1" u="sng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u="sng" dirty="0" smtClean="0">
                <a:solidFill>
                  <a:schemeClr val="tx1"/>
                </a:solidFill>
              </a:rPr>
              <a:t>Derived Data types: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dirty="0" smtClean="0">
                <a:solidFill>
                  <a:schemeClr val="tx1"/>
                </a:solidFill>
              </a:rPr>
              <a:t>	Arrays and Pointers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u="sng" dirty="0" smtClean="0">
                <a:solidFill>
                  <a:schemeClr val="tx1"/>
                </a:solidFill>
              </a:rPr>
              <a:t>User Defined Data types: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dirty="0" smtClean="0">
                <a:solidFill>
                  <a:schemeClr val="tx1"/>
                </a:solidFill>
              </a:rPr>
              <a:t>	Structure, Union and Enumeration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3040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Primary </a:t>
            </a:r>
            <a:r>
              <a:rPr lang="en-US" sz="2500" dirty="0" err="1" smtClean="0"/>
              <a:t>Datatype</a:t>
            </a:r>
            <a:endParaRPr lang="en-US" sz="2500" dirty="0"/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910708801"/>
              </p:ext>
            </p:extLst>
          </p:nvPr>
        </p:nvGraphicFramePr>
        <p:xfrm>
          <a:off x="381000" y="1255184"/>
          <a:ext cx="8305800" cy="50694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160"/>
                <a:gridCol w="1661160"/>
                <a:gridCol w="1661160"/>
                <a:gridCol w="1661160"/>
                <a:gridCol w="1661160"/>
              </a:tblGrid>
              <a:tr h="71596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</a:t>
                      </a:r>
                      <a:r>
                        <a:rPr lang="en-US" sz="2000" b="1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Type</a:t>
                      </a:r>
                      <a:endParaRPr 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Keyword used</a:t>
                      </a:r>
                      <a:endParaRPr 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Size in bytes</a:t>
                      </a:r>
                      <a:endParaRPr 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Range </a:t>
                      </a:r>
                      <a:endParaRPr 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Use </a:t>
                      </a:r>
                      <a:endParaRPr 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127">
                <a:tc>
                  <a:txBody>
                    <a:bodyPr/>
                    <a:lstStyle/>
                    <a:p>
                      <a:r>
                        <a:rPr lang="en-US" dirty="0" smtClean="0"/>
                        <a:t>Character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-128 to 127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 store characters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127">
                <a:tc>
                  <a:txBody>
                    <a:bodyPr/>
                    <a:lstStyle/>
                    <a:p>
                      <a:r>
                        <a:rPr lang="en-US" dirty="0" smtClean="0"/>
                        <a:t>Integer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-32768 to 32767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 store integer numbers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127">
                <a:tc>
                  <a:txBody>
                    <a:bodyPr/>
                    <a:lstStyle/>
                    <a:p>
                      <a:r>
                        <a:rPr lang="en-US" dirty="0" smtClean="0"/>
                        <a:t>Floating point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3.4E</a:t>
                      </a:r>
                      <a:r>
                        <a:rPr lang="en-US" baseline="0" dirty="0" smtClean="0"/>
                        <a:t> -38 to 3.4E +38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 store floating point numbers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127">
                <a:tc>
                  <a:txBody>
                    <a:bodyPr/>
                    <a:lstStyle/>
                    <a:p>
                      <a:r>
                        <a:rPr lang="en-US" dirty="0" smtClean="0"/>
                        <a:t>Double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double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1.7E</a:t>
                      </a:r>
                      <a:r>
                        <a:rPr lang="en-US" baseline="0" dirty="0" smtClean="0"/>
                        <a:t> -308 to 1.7E +308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 store big floating</a:t>
                      </a:r>
                      <a:r>
                        <a:rPr lang="en-US" baseline="0" dirty="0" smtClean="0"/>
                        <a:t> point numbers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127">
                <a:tc>
                  <a:txBody>
                    <a:bodyPr/>
                    <a:lstStyle/>
                    <a:p>
                      <a:r>
                        <a:rPr lang="en-US" dirty="0" smtClean="0"/>
                        <a:t>Valueless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void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Valueless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-----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914400"/>
            <a:ext cx="693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: Primary data types in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Derived Data 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85720" y="1000108"/>
            <a:ext cx="8229600" cy="481171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chemeClr val="tx1"/>
                </a:solidFill>
              </a:rPr>
              <a:t>Array </a:t>
            </a:r>
          </a:p>
          <a:p>
            <a:pPr algn="just"/>
            <a:r>
              <a:rPr lang="en-GB" dirty="0" smtClean="0">
                <a:solidFill>
                  <a:schemeClr val="tx1"/>
                </a:solidFill>
              </a:rPr>
              <a:t>An array is a collection of data items, all of the same type, accessed using a common name. A one-dimensional array is like a list, A two dimensional array is like a table.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Derived Data 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85720" y="1000108"/>
            <a:ext cx="8229600" cy="4811715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#include&lt;</a:t>
            </a:r>
            <a:r>
              <a:rPr lang="en-US" sz="1400" dirty="0" err="1" smtClean="0">
                <a:solidFill>
                  <a:schemeClr val="tx1"/>
                </a:solidFill>
              </a:rPr>
              <a:t>stdio.h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#include&lt;</a:t>
            </a:r>
            <a:r>
              <a:rPr lang="en-US" sz="1400" dirty="0" err="1" smtClean="0">
                <a:solidFill>
                  <a:schemeClr val="tx1"/>
                </a:solidFill>
              </a:rPr>
              <a:t>conio.h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void main()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int</a:t>
            </a:r>
            <a:r>
              <a:rPr lang="en-US" sz="1400" dirty="0" smtClean="0">
                <a:solidFill>
                  <a:schemeClr val="tx1"/>
                </a:solidFill>
              </a:rPr>
              <a:t> a[50],</a:t>
            </a:r>
            <a:r>
              <a:rPr lang="en-US" sz="1400" dirty="0" err="1" smtClean="0">
                <a:solidFill>
                  <a:schemeClr val="tx1"/>
                </a:solidFill>
              </a:rPr>
              <a:t>i,n</a:t>
            </a:r>
            <a:r>
              <a:rPr lang="en-US" sz="1400" dirty="0" smtClean="0">
                <a:solidFill>
                  <a:schemeClr val="tx1"/>
                </a:solidFill>
              </a:rPr>
              <a:t>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clrscr</a:t>
            </a:r>
            <a:r>
              <a:rPr lang="en-US" sz="1400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printf</a:t>
            </a:r>
            <a:r>
              <a:rPr lang="en-US" sz="1400" dirty="0" smtClean="0">
                <a:solidFill>
                  <a:schemeClr val="tx1"/>
                </a:solidFill>
              </a:rPr>
              <a:t>("\n Enter Limit : ");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scanf</a:t>
            </a:r>
            <a:r>
              <a:rPr lang="en-US" sz="1400" dirty="0" smtClean="0">
                <a:solidFill>
                  <a:schemeClr val="tx1"/>
                </a:solidFill>
              </a:rPr>
              <a:t>("%</a:t>
            </a:r>
            <a:r>
              <a:rPr lang="en-US" sz="1400" dirty="0" err="1" smtClean="0">
                <a:solidFill>
                  <a:schemeClr val="tx1"/>
                </a:solidFill>
              </a:rPr>
              <a:t>d",&amp;n</a:t>
            </a:r>
            <a:r>
              <a:rPr lang="en-US" sz="1400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for(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=0;i&lt;</a:t>
            </a:r>
            <a:r>
              <a:rPr lang="en-US" sz="1400" dirty="0" err="1" smtClean="0">
                <a:solidFill>
                  <a:schemeClr val="tx1"/>
                </a:solidFill>
              </a:rPr>
              <a:t>n;i</a:t>
            </a:r>
            <a:r>
              <a:rPr lang="en-US" sz="1400" dirty="0" smtClean="0">
                <a:solidFill>
                  <a:schemeClr val="tx1"/>
                </a:solidFill>
              </a:rPr>
              <a:t>++)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{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	</a:t>
            </a:r>
            <a:r>
              <a:rPr lang="en-US" sz="1400" dirty="0" err="1" smtClean="0">
                <a:solidFill>
                  <a:schemeClr val="tx1"/>
                </a:solidFill>
              </a:rPr>
              <a:t>printf</a:t>
            </a:r>
            <a:r>
              <a:rPr lang="en-US" sz="1400" dirty="0" smtClean="0">
                <a:solidFill>
                  <a:schemeClr val="tx1"/>
                </a:solidFill>
              </a:rPr>
              <a:t>("\n Enter Value %d : ",i+1);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	</a:t>
            </a:r>
            <a:r>
              <a:rPr lang="en-US" sz="1400" dirty="0" err="1" smtClean="0">
                <a:solidFill>
                  <a:schemeClr val="tx1"/>
                </a:solidFill>
              </a:rPr>
              <a:t>scanf</a:t>
            </a:r>
            <a:r>
              <a:rPr lang="en-US" sz="1400" dirty="0" smtClean="0">
                <a:solidFill>
                  <a:schemeClr val="tx1"/>
                </a:solidFill>
              </a:rPr>
              <a:t>("%</a:t>
            </a:r>
            <a:r>
              <a:rPr lang="en-US" sz="1400" dirty="0" err="1" smtClean="0">
                <a:solidFill>
                  <a:schemeClr val="tx1"/>
                </a:solidFill>
              </a:rPr>
              <a:t>d",&amp;a</a:t>
            </a:r>
            <a:r>
              <a:rPr lang="en-US" sz="1400" dirty="0" smtClean="0">
                <a:solidFill>
                  <a:schemeClr val="tx1"/>
                </a:solidFill>
              </a:rPr>
              <a:t>[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]);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}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printf</a:t>
            </a:r>
            <a:r>
              <a:rPr lang="en-US" sz="1400" dirty="0" smtClean="0">
                <a:solidFill>
                  <a:schemeClr val="tx1"/>
                </a:solidFill>
              </a:rPr>
              <a:t>("\n Entered Values are as follows \n");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for(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=0;i&lt;</a:t>
            </a:r>
            <a:r>
              <a:rPr lang="en-US" sz="1400" dirty="0" err="1" smtClean="0">
                <a:solidFill>
                  <a:schemeClr val="tx1"/>
                </a:solidFill>
              </a:rPr>
              <a:t>n;i</a:t>
            </a:r>
            <a:r>
              <a:rPr lang="en-US" sz="1400" dirty="0" smtClean="0">
                <a:solidFill>
                  <a:schemeClr val="tx1"/>
                </a:solidFill>
              </a:rPr>
              <a:t>++)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{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	</a:t>
            </a:r>
            <a:r>
              <a:rPr lang="en-US" sz="1400" dirty="0" err="1" smtClean="0">
                <a:solidFill>
                  <a:schemeClr val="tx1"/>
                </a:solidFill>
              </a:rPr>
              <a:t>printf</a:t>
            </a:r>
            <a:r>
              <a:rPr lang="en-US" sz="1400" dirty="0" smtClean="0">
                <a:solidFill>
                  <a:schemeClr val="tx1"/>
                </a:solidFill>
              </a:rPr>
              <a:t>("\</a:t>
            </a:r>
            <a:r>
              <a:rPr lang="en-US" sz="1400" dirty="0" err="1" smtClean="0">
                <a:solidFill>
                  <a:schemeClr val="tx1"/>
                </a:solidFill>
              </a:rPr>
              <a:t>n%d",a</a:t>
            </a:r>
            <a:r>
              <a:rPr lang="en-US" sz="1400" dirty="0" smtClean="0">
                <a:solidFill>
                  <a:schemeClr val="tx1"/>
                </a:solidFill>
              </a:rPr>
              <a:t>[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]);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}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getch</a:t>
            </a:r>
            <a:r>
              <a:rPr lang="en-US" sz="1400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}</a:t>
            </a:r>
          </a:p>
          <a:p>
            <a:pPr algn="just"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 algn="just">
              <a:buNone/>
            </a:pPr>
            <a:endParaRPr lang="en-GB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Derived Data 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85720" y="1000108"/>
            <a:ext cx="8229600" cy="481171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chemeClr val="tx1"/>
                </a:solidFill>
              </a:rPr>
              <a:t>Pointer</a:t>
            </a:r>
          </a:p>
          <a:p>
            <a:pPr algn="just"/>
            <a:r>
              <a:rPr lang="en-GB" dirty="0" smtClean="0">
                <a:solidFill>
                  <a:schemeClr val="tx1"/>
                </a:solidFill>
              </a:rPr>
              <a:t>A </a:t>
            </a:r>
            <a:r>
              <a:rPr lang="en-GB" b="1" dirty="0" smtClean="0">
                <a:solidFill>
                  <a:schemeClr val="tx1"/>
                </a:solidFill>
              </a:rPr>
              <a:t>pointer</a:t>
            </a:r>
            <a:r>
              <a:rPr lang="en-GB" dirty="0" smtClean="0">
                <a:solidFill>
                  <a:schemeClr val="tx1"/>
                </a:solidFill>
              </a:rPr>
              <a:t> is a variable whose value is the address of another variable, i.e., direct address of the memory location. Like any variable or constant, you must declare a </a:t>
            </a:r>
            <a:r>
              <a:rPr lang="en-GB" b="1" dirty="0" smtClean="0">
                <a:solidFill>
                  <a:schemeClr val="tx1"/>
                </a:solidFill>
              </a:rPr>
              <a:t>pointer</a:t>
            </a:r>
            <a:r>
              <a:rPr lang="en-GB" dirty="0" smtClean="0">
                <a:solidFill>
                  <a:schemeClr val="tx1"/>
                </a:solidFill>
              </a:rPr>
              <a:t> before using it to store any variable address.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Derived Data 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85720" y="1000108"/>
            <a:ext cx="8229600" cy="4811715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#include&lt;</a:t>
            </a:r>
            <a:r>
              <a:rPr lang="en-US" sz="1400" dirty="0" err="1" smtClean="0">
                <a:solidFill>
                  <a:schemeClr val="tx1"/>
                </a:solidFill>
              </a:rPr>
              <a:t>stdio.h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#include&lt;</a:t>
            </a:r>
            <a:r>
              <a:rPr lang="en-US" sz="1400" dirty="0" err="1" smtClean="0">
                <a:solidFill>
                  <a:schemeClr val="tx1"/>
                </a:solidFill>
              </a:rPr>
              <a:t>conio.h</a:t>
            </a:r>
            <a:r>
              <a:rPr lang="en-US" sz="14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void swap(</a:t>
            </a:r>
            <a:r>
              <a:rPr lang="en-US" sz="1400" dirty="0" err="1" smtClean="0">
                <a:solidFill>
                  <a:schemeClr val="tx1"/>
                </a:solidFill>
              </a:rPr>
              <a:t>int</a:t>
            </a:r>
            <a:r>
              <a:rPr lang="en-US" sz="1400" dirty="0" smtClean="0">
                <a:solidFill>
                  <a:schemeClr val="tx1"/>
                </a:solidFill>
              </a:rPr>
              <a:t> *,</a:t>
            </a:r>
            <a:r>
              <a:rPr lang="en-US" sz="1400" dirty="0" err="1" smtClean="0">
                <a:solidFill>
                  <a:schemeClr val="tx1"/>
                </a:solidFill>
              </a:rPr>
              <a:t>int</a:t>
            </a:r>
            <a:r>
              <a:rPr lang="en-US" sz="1400" dirty="0" smtClean="0">
                <a:solidFill>
                  <a:schemeClr val="tx1"/>
                </a:solidFill>
              </a:rPr>
              <a:t> *);</a:t>
            </a:r>
          </a:p>
          <a:p>
            <a:pPr algn="just"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void main()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int</a:t>
            </a:r>
            <a:r>
              <a:rPr lang="en-US" sz="1400" dirty="0" smtClean="0">
                <a:solidFill>
                  <a:schemeClr val="tx1"/>
                </a:solidFill>
              </a:rPr>
              <a:t> a=10,b=20;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clrscr</a:t>
            </a:r>
            <a:r>
              <a:rPr lang="en-US" sz="1400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printf</a:t>
            </a:r>
            <a:r>
              <a:rPr lang="en-US" sz="1400" dirty="0" smtClean="0">
                <a:solidFill>
                  <a:schemeClr val="tx1"/>
                </a:solidFill>
              </a:rPr>
              <a:t>("\n Before Swap A : %d and b : %</a:t>
            </a:r>
            <a:r>
              <a:rPr lang="en-US" sz="1400" dirty="0" err="1" smtClean="0">
                <a:solidFill>
                  <a:schemeClr val="tx1"/>
                </a:solidFill>
              </a:rPr>
              <a:t>d",a,b</a:t>
            </a:r>
            <a:r>
              <a:rPr lang="en-US" sz="1400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swap(&amp;</a:t>
            </a:r>
            <a:r>
              <a:rPr lang="en-US" sz="1400" dirty="0" err="1" smtClean="0">
                <a:solidFill>
                  <a:schemeClr val="tx1"/>
                </a:solidFill>
              </a:rPr>
              <a:t>a,&amp;b</a:t>
            </a:r>
            <a:r>
              <a:rPr lang="en-US" sz="1400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printf</a:t>
            </a:r>
            <a:r>
              <a:rPr lang="en-US" sz="1400" dirty="0" smtClean="0">
                <a:solidFill>
                  <a:schemeClr val="tx1"/>
                </a:solidFill>
              </a:rPr>
              <a:t>("\n After Swap A : %d and b : %</a:t>
            </a:r>
            <a:r>
              <a:rPr lang="en-US" sz="1400" dirty="0" err="1" smtClean="0">
                <a:solidFill>
                  <a:schemeClr val="tx1"/>
                </a:solidFill>
              </a:rPr>
              <a:t>d",a,b</a:t>
            </a:r>
            <a:r>
              <a:rPr lang="en-US" sz="1400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getch</a:t>
            </a:r>
            <a:r>
              <a:rPr lang="en-US" sz="1400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}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void swap(</a:t>
            </a:r>
            <a:r>
              <a:rPr lang="en-US" sz="1400" dirty="0" err="1" smtClean="0">
                <a:solidFill>
                  <a:schemeClr val="tx1"/>
                </a:solidFill>
              </a:rPr>
              <a:t>int</a:t>
            </a:r>
            <a:r>
              <a:rPr lang="en-US" sz="1400" dirty="0" smtClean="0">
                <a:solidFill>
                  <a:schemeClr val="tx1"/>
                </a:solidFill>
              </a:rPr>
              <a:t> *</a:t>
            </a:r>
            <a:r>
              <a:rPr lang="en-US" sz="1400" dirty="0" err="1" smtClean="0">
                <a:solidFill>
                  <a:schemeClr val="tx1"/>
                </a:solidFill>
              </a:rPr>
              <a:t>a,int</a:t>
            </a:r>
            <a:r>
              <a:rPr lang="en-US" sz="1400" dirty="0" smtClean="0">
                <a:solidFill>
                  <a:schemeClr val="tx1"/>
                </a:solidFill>
              </a:rPr>
              <a:t> *b)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int</a:t>
            </a:r>
            <a:r>
              <a:rPr lang="en-US" sz="1400" dirty="0" smtClean="0">
                <a:solidFill>
                  <a:schemeClr val="tx1"/>
                </a:solidFill>
              </a:rPr>
              <a:t> temp;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temp=*a;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*a=*b;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	*b=temp;</a:t>
            </a:r>
          </a:p>
          <a:p>
            <a:pPr algn="just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}</a:t>
            </a:r>
          </a:p>
          <a:p>
            <a:pPr algn="just"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 algn="just"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 algn="just"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User Defined </a:t>
            </a:r>
            <a:r>
              <a:rPr lang="en-US" sz="2500" dirty="0" err="1" smtClean="0"/>
              <a:t>Datatype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000660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chemeClr val="tx1"/>
                </a:solidFill>
              </a:rPr>
              <a:t>Structure</a:t>
            </a:r>
          </a:p>
          <a:p>
            <a:pPr algn="just"/>
            <a:r>
              <a:rPr lang="en-GB" dirty="0" smtClean="0">
                <a:solidFill>
                  <a:schemeClr val="tx1"/>
                </a:solidFill>
              </a:rPr>
              <a:t>Structure is a user-defined data type in C language which allows us to combine data of different types together. Structure helps to construct a complex data type which is more meaningful. It is somewhat similar to an Array, but an array holds data of similar type only.</a:t>
            </a:r>
          </a:p>
          <a:p>
            <a:pPr algn="just"/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GB" sz="2100" dirty="0" smtClean="0">
                <a:solidFill>
                  <a:schemeClr val="tx1"/>
                </a:solidFill>
              </a:rPr>
              <a:t>#include&lt;</a:t>
            </a:r>
            <a:r>
              <a:rPr lang="en-GB" sz="2100" dirty="0" err="1" smtClean="0">
                <a:solidFill>
                  <a:schemeClr val="tx1"/>
                </a:solidFill>
              </a:rPr>
              <a:t>stdio.h</a:t>
            </a:r>
            <a:r>
              <a:rPr lang="en-GB" sz="21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r>
              <a:rPr lang="en-GB" sz="2100" dirty="0" smtClean="0">
                <a:solidFill>
                  <a:schemeClr val="tx1"/>
                </a:solidFill>
              </a:rPr>
              <a:t>#include&lt;</a:t>
            </a:r>
            <a:r>
              <a:rPr lang="en-GB" sz="2100" dirty="0" err="1" smtClean="0">
                <a:solidFill>
                  <a:schemeClr val="tx1"/>
                </a:solidFill>
              </a:rPr>
              <a:t>conio.h</a:t>
            </a:r>
            <a:r>
              <a:rPr lang="en-GB" sz="2100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endParaRPr lang="en-GB" sz="2100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GB" sz="2100" dirty="0" err="1" smtClean="0">
                <a:solidFill>
                  <a:schemeClr val="tx1"/>
                </a:solidFill>
              </a:rPr>
              <a:t>struct</a:t>
            </a:r>
            <a:r>
              <a:rPr lang="en-GB" sz="2100" dirty="0" smtClean="0">
                <a:solidFill>
                  <a:schemeClr val="tx1"/>
                </a:solidFill>
              </a:rPr>
              <a:t> student</a:t>
            </a:r>
          </a:p>
          <a:p>
            <a:pPr algn="just">
              <a:buNone/>
            </a:pPr>
            <a:r>
              <a:rPr lang="en-GB" sz="2100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GB" sz="2100" dirty="0" smtClean="0">
                <a:solidFill>
                  <a:schemeClr val="tx1"/>
                </a:solidFill>
              </a:rPr>
              <a:t>	</a:t>
            </a:r>
            <a:r>
              <a:rPr lang="en-GB" sz="2100" dirty="0" err="1" smtClean="0">
                <a:solidFill>
                  <a:schemeClr val="tx1"/>
                </a:solidFill>
              </a:rPr>
              <a:t>int</a:t>
            </a:r>
            <a:r>
              <a:rPr lang="en-GB" sz="2100" dirty="0" smtClean="0">
                <a:solidFill>
                  <a:schemeClr val="tx1"/>
                </a:solidFill>
              </a:rPr>
              <a:t> </a:t>
            </a:r>
            <a:r>
              <a:rPr lang="en-GB" sz="2100" dirty="0" err="1" smtClean="0">
                <a:solidFill>
                  <a:schemeClr val="tx1"/>
                </a:solidFill>
              </a:rPr>
              <a:t>rollno</a:t>
            </a:r>
            <a:r>
              <a:rPr lang="en-GB" sz="2100" dirty="0" smtClean="0">
                <a:solidFill>
                  <a:schemeClr val="tx1"/>
                </a:solidFill>
              </a:rPr>
              <a:t>;</a:t>
            </a:r>
          </a:p>
          <a:p>
            <a:pPr algn="just">
              <a:buNone/>
            </a:pPr>
            <a:r>
              <a:rPr lang="en-GB" sz="2100" dirty="0" smtClean="0">
                <a:solidFill>
                  <a:schemeClr val="tx1"/>
                </a:solidFill>
              </a:rPr>
              <a:t>	char name[20];</a:t>
            </a:r>
          </a:p>
          <a:p>
            <a:pPr algn="just">
              <a:buNone/>
            </a:pPr>
            <a:r>
              <a:rPr lang="en-GB" sz="2100" dirty="0" smtClean="0">
                <a:solidFill>
                  <a:schemeClr val="tx1"/>
                </a:solidFill>
              </a:rPr>
              <a:t>	</a:t>
            </a:r>
          </a:p>
          <a:p>
            <a:pPr algn="just">
              <a:buNone/>
            </a:pPr>
            <a:r>
              <a:rPr lang="en-GB" sz="2100" dirty="0" smtClean="0">
                <a:solidFill>
                  <a:schemeClr val="tx1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User Defined </a:t>
            </a:r>
            <a:r>
              <a:rPr lang="en-US" sz="2500" dirty="0" err="1" smtClean="0"/>
              <a:t>Datatype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000660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void main()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struct</a:t>
            </a:r>
            <a:r>
              <a:rPr lang="en-GB" dirty="0" smtClean="0">
                <a:solidFill>
                  <a:schemeClr val="tx1"/>
                </a:solidFill>
              </a:rPr>
              <a:t> student s1;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clrscr</a:t>
            </a:r>
            <a:r>
              <a:rPr lang="en-GB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printf</a:t>
            </a:r>
            <a:r>
              <a:rPr lang="en-GB" dirty="0" smtClean="0">
                <a:solidFill>
                  <a:schemeClr val="tx1"/>
                </a:solidFill>
              </a:rPr>
              <a:t>("\n Enter Roll Number : ");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scanf</a:t>
            </a:r>
            <a:r>
              <a:rPr lang="en-GB" dirty="0" smtClean="0">
                <a:solidFill>
                  <a:schemeClr val="tx1"/>
                </a:solidFill>
              </a:rPr>
              <a:t>("%d",&amp;s1.rollno);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printf</a:t>
            </a:r>
            <a:r>
              <a:rPr lang="en-GB" dirty="0" smtClean="0">
                <a:solidFill>
                  <a:schemeClr val="tx1"/>
                </a:solidFill>
              </a:rPr>
              <a:t>("\n Enter Name : ");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fflush</a:t>
            </a:r>
            <a:r>
              <a:rPr lang="en-GB" dirty="0" smtClean="0">
                <a:solidFill>
                  <a:schemeClr val="tx1"/>
                </a:solidFill>
              </a:rPr>
              <a:t>(</a:t>
            </a:r>
            <a:r>
              <a:rPr lang="en-GB" dirty="0" err="1" smtClean="0">
                <a:solidFill>
                  <a:schemeClr val="tx1"/>
                </a:solidFill>
              </a:rPr>
              <a:t>stdin</a:t>
            </a:r>
            <a:r>
              <a:rPr lang="en-GB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gets(s1.name);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printf</a:t>
            </a:r>
            <a:r>
              <a:rPr lang="en-GB" dirty="0" smtClean="0">
                <a:solidFill>
                  <a:schemeClr val="tx1"/>
                </a:solidFill>
              </a:rPr>
              <a:t>("\n Student Data is as follows ");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printf</a:t>
            </a:r>
            <a:r>
              <a:rPr lang="en-GB" dirty="0" smtClean="0">
                <a:solidFill>
                  <a:schemeClr val="tx1"/>
                </a:solidFill>
              </a:rPr>
              <a:t>("\n ***************************");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printf</a:t>
            </a:r>
            <a:r>
              <a:rPr lang="en-GB" dirty="0" smtClean="0">
                <a:solidFill>
                  <a:schemeClr val="tx1"/>
                </a:solidFill>
              </a:rPr>
              <a:t>("\n Roll Number is : %d",s1.rollno);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printf</a:t>
            </a:r>
            <a:r>
              <a:rPr lang="en-GB" dirty="0" smtClean="0">
                <a:solidFill>
                  <a:schemeClr val="tx1"/>
                </a:solidFill>
              </a:rPr>
              <a:t>("\n Name is : %s",s1.name);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	</a:t>
            </a:r>
            <a:r>
              <a:rPr lang="en-GB" dirty="0" err="1" smtClean="0">
                <a:solidFill>
                  <a:schemeClr val="tx1"/>
                </a:solidFill>
              </a:rPr>
              <a:t>getch</a:t>
            </a:r>
            <a:r>
              <a:rPr lang="en-GB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}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User Defined </a:t>
            </a:r>
            <a:r>
              <a:rPr lang="en-US" sz="2500" dirty="0" err="1" smtClean="0"/>
              <a:t>Datatype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00066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chemeClr val="tx1"/>
                </a:solidFill>
              </a:rPr>
              <a:t>Union</a:t>
            </a:r>
          </a:p>
          <a:p>
            <a:pPr algn="just"/>
            <a:r>
              <a:rPr lang="en-GB" dirty="0" smtClean="0">
                <a:solidFill>
                  <a:schemeClr val="tx1"/>
                </a:solidFill>
              </a:rPr>
              <a:t>A union is a special data type available in C that allows to store different data types in the same memory location. You can define a union with many members, but only one member can contain a value at any given time.</a:t>
            </a:r>
          </a:p>
          <a:p>
            <a:pPr algn="just">
              <a:buNone/>
            </a:pPr>
            <a:endParaRPr lang="en-GB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#include&lt;</a:t>
            </a:r>
            <a:r>
              <a:rPr lang="en-US" dirty="0" err="1" smtClean="0">
                <a:solidFill>
                  <a:schemeClr val="tx1"/>
                </a:solidFill>
              </a:rPr>
              <a:t>stdio.h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#include&lt;</a:t>
            </a:r>
            <a:r>
              <a:rPr lang="en-US" dirty="0" err="1" smtClean="0">
                <a:solidFill>
                  <a:schemeClr val="tx1"/>
                </a:solidFill>
              </a:rPr>
              <a:t>conio.h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union student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int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rollno</a:t>
            </a:r>
            <a:r>
              <a:rPr lang="en-US" dirty="0" smtClean="0">
                <a:solidFill>
                  <a:schemeClr val="tx1"/>
                </a:solidFill>
              </a:rPr>
              <a:t>;	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};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User Defined </a:t>
            </a:r>
            <a:r>
              <a:rPr lang="en-US" sz="2500" dirty="0" err="1" smtClean="0"/>
              <a:t>Datatype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00066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void main()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union student s1;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clrscr</a:t>
            </a:r>
            <a:r>
              <a:rPr lang="en-US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 smtClean="0">
                <a:solidFill>
                  <a:schemeClr val="tx1"/>
                </a:solidFill>
              </a:rPr>
              <a:t>("\n Enter Roll Number : ");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scanf</a:t>
            </a:r>
            <a:r>
              <a:rPr lang="en-US" dirty="0" smtClean="0">
                <a:solidFill>
                  <a:schemeClr val="tx1"/>
                </a:solidFill>
              </a:rPr>
              <a:t>("%d",&amp;s1.rollno);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 smtClean="0">
                <a:solidFill>
                  <a:schemeClr val="tx1"/>
                </a:solidFill>
              </a:rPr>
              <a:t>("\n Student Data is as follows ");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 smtClean="0">
                <a:solidFill>
                  <a:schemeClr val="tx1"/>
                </a:solidFill>
              </a:rPr>
              <a:t>("\n ***************************");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 smtClean="0">
                <a:solidFill>
                  <a:schemeClr val="tx1"/>
                </a:solidFill>
              </a:rPr>
              <a:t>("\n Roll Number is : %d",s1.rollno);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getch</a:t>
            </a:r>
            <a:r>
              <a:rPr lang="en-US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}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User Defined </a:t>
            </a:r>
            <a:r>
              <a:rPr lang="en-US" sz="2500" dirty="0" err="1" smtClean="0"/>
              <a:t>Datatype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00066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chemeClr val="tx1"/>
                </a:solidFill>
              </a:rPr>
              <a:t>Enum</a:t>
            </a:r>
          </a:p>
          <a:p>
            <a:pPr algn="just"/>
            <a:r>
              <a:rPr lang="en-GB" dirty="0" smtClean="0">
                <a:solidFill>
                  <a:schemeClr val="tx1"/>
                </a:solidFill>
              </a:rPr>
              <a:t>Enumeration is a user defined datatype in C language. It is used to assign names to the integral constants which makes a program easy to read and maintain. The keyword “enum” is used to declare an enumeration.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2500" dirty="0" smtClean="0"/>
              <a:t>User Defined </a:t>
            </a:r>
            <a:r>
              <a:rPr lang="en-US" sz="2500" dirty="0" err="1" smtClean="0"/>
              <a:t>Datatype</a:t>
            </a:r>
            <a:endParaRPr lang="en-US" sz="25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00066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#include&lt;</a:t>
            </a:r>
            <a:r>
              <a:rPr lang="en-US" dirty="0" err="1" smtClean="0">
                <a:solidFill>
                  <a:schemeClr val="tx1"/>
                </a:solidFill>
              </a:rPr>
              <a:t>stdio.h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#include&lt;</a:t>
            </a:r>
            <a:r>
              <a:rPr lang="en-US" dirty="0" err="1" smtClean="0">
                <a:solidFill>
                  <a:schemeClr val="tx1"/>
                </a:solidFill>
              </a:rPr>
              <a:t>conio.h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err="1" smtClean="0">
                <a:solidFill>
                  <a:schemeClr val="tx1"/>
                </a:solidFill>
              </a:rPr>
              <a:t>enum</a:t>
            </a:r>
            <a:r>
              <a:rPr lang="en-US" dirty="0" smtClean="0">
                <a:solidFill>
                  <a:schemeClr val="tx1"/>
                </a:solidFill>
              </a:rPr>
              <a:t> week{</a:t>
            </a:r>
            <a:r>
              <a:rPr lang="en-US" dirty="0" err="1" smtClean="0">
                <a:solidFill>
                  <a:schemeClr val="tx1"/>
                </a:solidFill>
              </a:rPr>
              <a:t>Mon,Tue,Wed,Thu,Fri,Sat,Sun</a:t>
            </a:r>
            <a:r>
              <a:rPr lang="en-US" dirty="0" smtClean="0">
                <a:solidFill>
                  <a:schemeClr val="tx1"/>
                </a:solidFill>
              </a:rPr>
              <a:t>};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void main()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{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enum</a:t>
            </a:r>
            <a:r>
              <a:rPr lang="en-US" dirty="0" smtClean="0">
                <a:solidFill>
                  <a:schemeClr val="tx1"/>
                </a:solidFill>
              </a:rPr>
              <a:t> week w;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clrscr</a:t>
            </a:r>
            <a:r>
              <a:rPr lang="en-US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w=Tue;</a:t>
            </a:r>
          </a:p>
          <a:p>
            <a:pPr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printf</a:t>
            </a:r>
            <a:r>
              <a:rPr lang="en-US" dirty="0" smtClean="0">
                <a:solidFill>
                  <a:schemeClr val="tx1"/>
                </a:solidFill>
              </a:rPr>
              <a:t>("\n Constant Value of Tue is : %</a:t>
            </a:r>
            <a:r>
              <a:rPr lang="en-US" dirty="0" err="1" smtClean="0">
                <a:solidFill>
                  <a:schemeClr val="tx1"/>
                </a:solidFill>
              </a:rPr>
              <a:t>d",w</a:t>
            </a:r>
            <a:r>
              <a:rPr lang="en-US" dirty="0" smtClean="0">
                <a:solidFill>
                  <a:schemeClr val="tx1"/>
                </a:solidFill>
              </a:rPr>
              <a:t>);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getch</a:t>
            </a:r>
            <a:r>
              <a:rPr lang="en-US" dirty="0" smtClean="0">
                <a:solidFill>
                  <a:schemeClr val="tx1"/>
                </a:solidFill>
              </a:rPr>
              <a:t>();</a:t>
            </a:r>
          </a:p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}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06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b="1" dirty="0" smtClean="0">
                <a:solidFill>
                  <a:schemeClr val="tx1"/>
                </a:solidFill>
              </a:rPr>
              <a:t>Data structure </a:t>
            </a:r>
            <a:r>
              <a:rPr lang="en-US" sz="2200" dirty="0" smtClean="0">
                <a:solidFill>
                  <a:schemeClr val="tx1"/>
                </a:solidFill>
              </a:rPr>
              <a:t>is a way of collecting and organizing data in such a way that we can perform operations on these data in an effective way.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Data structure is about rendering (providing) data elements in terms of some relationship, for better organization and storage.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1205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b="1" dirty="0" smtClean="0">
                <a:solidFill>
                  <a:schemeClr val="tx1"/>
                </a:solidFill>
              </a:rPr>
              <a:t>For example, </a:t>
            </a:r>
            <a:r>
              <a:rPr lang="en-US" sz="2200" dirty="0" smtClean="0">
                <a:solidFill>
                  <a:schemeClr val="tx1"/>
                </a:solidFill>
              </a:rPr>
              <a:t>we have data player’s name “Hitesh” and age 26.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Here we have two data elements: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</a:rPr>
              <a:t>Player’s name: string datatype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</a:rPr>
              <a:t>Player’s age: integer datatype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We can organize this data as a record like Player record.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>
                <a:solidFill>
                  <a:schemeClr val="tx1"/>
                </a:solidFill>
              </a:rPr>
              <a:t>Now we can collect and store Player’s records in a file or database as a data structure.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For example, “Gayle” 30, “Sachin” 31, “Parth” 33.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In simple language, Data structures are structures programmed to store ordered data, so that various operations can be performed easily.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5233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Anything that can store data can be called as a data structure, hence Integer, Float, Boolean, Char etc… are also called data structures.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smtClean="0">
                <a:solidFill>
                  <a:schemeClr val="tx1"/>
                </a:solidFill>
              </a:rPr>
              <a:t>They are also known as </a:t>
            </a:r>
            <a:r>
              <a:rPr lang="en-US" sz="1900" b="1" u="sng" dirty="0" smtClean="0">
                <a:solidFill>
                  <a:schemeClr val="tx1"/>
                </a:solidFill>
              </a:rPr>
              <a:t>Primitive Data Structures/ In-Built Data Structures</a:t>
            </a:r>
            <a:r>
              <a:rPr lang="en-US" sz="19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19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Complex type of data structures are also available, which are used to store large and connected data. They are also known as </a:t>
            </a:r>
            <a:r>
              <a:rPr lang="en-US" sz="1900" b="1" u="sng" dirty="0" smtClean="0">
                <a:solidFill>
                  <a:schemeClr val="tx1"/>
                </a:solidFill>
              </a:rPr>
              <a:t>Non-Primitive Data Structures/ Derived Data Structures/ Abstract Data Structures</a:t>
            </a:r>
            <a:r>
              <a:rPr lang="en-US" sz="1900" u="sng" dirty="0" smtClean="0">
                <a:solidFill>
                  <a:schemeClr val="tx1"/>
                </a:solidFill>
              </a:rPr>
              <a:t>. </a:t>
            </a:r>
            <a:r>
              <a:rPr lang="en-US" sz="1900" dirty="0" smtClean="0">
                <a:solidFill>
                  <a:schemeClr val="tx1"/>
                </a:solidFill>
              </a:rPr>
              <a:t>For example, Array, Stack, Queue, Linked list, Tree, Graph etc….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9134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610600" cy="6019800"/>
          </a:xfrm>
          <a:prstGeom prst="rect">
            <a:avLst/>
          </a:prstGeom>
          <a:noFill/>
          <a:ln w="349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4800" y="5791200"/>
            <a:ext cx="617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: Classification of Data Structures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57290" y="928670"/>
            <a:ext cx="1649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Primitive </a:t>
            </a:r>
          </a:p>
          <a:p>
            <a:r>
              <a:rPr lang="en-US" dirty="0" smtClean="0"/>
              <a:t>Data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1165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4267200"/>
            <a:ext cx="8610600" cy="1905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04800" y="2286000"/>
            <a:ext cx="8610600" cy="1905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The data structures can also be classified on the basis of the following characteristics: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200" b="1" u="sng" dirty="0" smtClean="0">
                <a:solidFill>
                  <a:schemeClr val="tx1"/>
                </a:solidFill>
              </a:rPr>
              <a:t>Linear :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In Linear data structures, the data items are arranged in a linear sequence.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Example: </a:t>
            </a:r>
            <a:r>
              <a:rPr lang="en-US" sz="1900" dirty="0" err="1" smtClean="0">
                <a:solidFill>
                  <a:schemeClr val="tx1"/>
                </a:solidFill>
              </a:rPr>
              <a:t>Array,Stack,Queue</a:t>
            </a: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200" b="1" u="sng" dirty="0" smtClean="0">
                <a:solidFill>
                  <a:schemeClr val="tx1"/>
                </a:solidFill>
              </a:rPr>
              <a:t>Non-Linear: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In Non-Linear data structures data items are not in sequence.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Example: Tree,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9905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4800" y="3200400"/>
            <a:ext cx="8610600" cy="1905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1066800"/>
            <a:ext cx="8610600" cy="1905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200" b="1" u="sng" dirty="0" smtClean="0">
                <a:solidFill>
                  <a:schemeClr val="tx1"/>
                </a:solidFill>
              </a:rPr>
              <a:t>Homogeneous :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In Homogeneous data structures, the elements are of same type.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Example: Array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200" b="1" u="sng" dirty="0" smtClean="0">
                <a:solidFill>
                  <a:schemeClr val="tx1"/>
                </a:solidFill>
              </a:rPr>
              <a:t>Non-</a:t>
            </a:r>
            <a:r>
              <a:rPr lang="en-US" sz="2200" b="1" u="sng" dirty="0">
                <a:solidFill>
                  <a:schemeClr val="tx1"/>
                </a:solidFill>
              </a:rPr>
              <a:t> Homogeneous </a:t>
            </a:r>
            <a:r>
              <a:rPr lang="en-US" sz="2200" b="1" u="sng" dirty="0" smtClean="0">
                <a:solidFill>
                  <a:schemeClr val="tx1"/>
                </a:solidFill>
              </a:rPr>
              <a:t>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In Non-</a:t>
            </a:r>
            <a:r>
              <a:rPr lang="en-US" sz="1900" dirty="0">
                <a:solidFill>
                  <a:schemeClr val="tx1"/>
                </a:solidFill>
              </a:rPr>
              <a:t> Homogeneous</a:t>
            </a:r>
            <a:r>
              <a:rPr lang="en-US" sz="1900" dirty="0" smtClean="0">
                <a:solidFill>
                  <a:schemeClr val="tx1"/>
                </a:solidFill>
              </a:rPr>
              <a:t> data structures all elements may or may not be of same type.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Example: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9737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4800" y="3429000"/>
            <a:ext cx="8610600" cy="266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1143000"/>
            <a:ext cx="8610600" cy="1905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200" b="1" u="sng" dirty="0" smtClean="0">
                <a:solidFill>
                  <a:schemeClr val="tx1"/>
                </a:solidFill>
              </a:rPr>
              <a:t>Static :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Static data structures are those whose sizes and structures associated memory locations are fixed at compile time.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Example: Array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endParaRPr lang="en-US" sz="19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200" b="1" u="sng" dirty="0" smtClean="0">
                <a:solidFill>
                  <a:schemeClr val="tx1"/>
                </a:solidFill>
              </a:rPr>
              <a:t>Dynamic :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Dynamic data structures are those which expands and shrinks depending upon the program need and its execution.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Also their associated memory locations change.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900" dirty="0" smtClean="0">
                <a:solidFill>
                  <a:schemeClr val="tx1"/>
                </a:solidFill>
              </a:rPr>
              <a:t>Example: Linked lists created using pointers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6506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276600"/>
            <a:ext cx="7696200" cy="274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Introduction of </a:t>
            </a:r>
            <a:r>
              <a:rPr lang="en-US" sz="3000" dirty="0"/>
              <a:t>D</a:t>
            </a:r>
            <a:r>
              <a:rPr lang="en-US" sz="3000" dirty="0" smtClean="0"/>
              <a:t>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The data in the data structures are processed by certain operations.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900" dirty="0" smtClean="0">
                <a:solidFill>
                  <a:schemeClr val="tx1"/>
                </a:solidFill>
              </a:rPr>
              <a:t>The particular data structure chosen, largely depends on the frequency of the operation that needs to be performed on the data structure.</a:t>
            </a:r>
          </a:p>
          <a:p>
            <a:pPr marL="857250" indent="-4000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900" b="1" dirty="0" smtClean="0">
                <a:solidFill>
                  <a:schemeClr val="tx1"/>
                </a:solidFill>
              </a:rPr>
              <a:t>Traversing</a:t>
            </a:r>
          </a:p>
          <a:p>
            <a:pPr marL="857250" indent="-4000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900" b="1" dirty="0" smtClean="0">
                <a:solidFill>
                  <a:schemeClr val="tx1"/>
                </a:solidFill>
              </a:rPr>
              <a:t>Searching </a:t>
            </a:r>
          </a:p>
          <a:p>
            <a:pPr marL="857250" indent="-4000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900" b="1" dirty="0" smtClean="0">
                <a:solidFill>
                  <a:schemeClr val="tx1"/>
                </a:solidFill>
              </a:rPr>
              <a:t>Insertion </a:t>
            </a:r>
          </a:p>
          <a:p>
            <a:pPr marL="857250" indent="-4000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900" b="1" dirty="0" smtClean="0">
                <a:solidFill>
                  <a:schemeClr val="tx1"/>
                </a:solidFill>
              </a:rPr>
              <a:t>Deletion </a:t>
            </a:r>
          </a:p>
          <a:p>
            <a:pPr marL="857250" indent="-4000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900" b="1" dirty="0" smtClean="0">
                <a:solidFill>
                  <a:schemeClr val="tx1"/>
                </a:solidFill>
              </a:rPr>
              <a:t>Sorting </a:t>
            </a:r>
          </a:p>
          <a:p>
            <a:pPr marL="857250" indent="-4000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900" b="1" dirty="0" smtClean="0">
                <a:solidFill>
                  <a:schemeClr val="tx1"/>
                </a:solidFill>
              </a:rPr>
              <a:t>Merging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463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Complexity of Data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000" b="1" dirty="0" smtClean="0">
                <a:solidFill>
                  <a:schemeClr val="tx1"/>
                </a:solidFill>
              </a:rPr>
              <a:t>Complexity</a:t>
            </a:r>
            <a:r>
              <a:rPr lang="en-GB" sz="2000" dirty="0" smtClean="0">
                <a:solidFill>
                  <a:schemeClr val="tx1"/>
                </a:solidFill>
              </a:rPr>
              <a:t> is a rough approximation of the number of steps necessary to execute an algorithm.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0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000" dirty="0" smtClean="0">
                <a:solidFill>
                  <a:schemeClr val="tx1"/>
                </a:solidFill>
              </a:rPr>
              <a:t>Two types of Complexity of Data Structure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GB" sz="2000" dirty="0" smtClean="0">
                <a:solidFill>
                  <a:schemeClr val="tx1"/>
                </a:solidFill>
              </a:rPr>
              <a:t>Time Complexity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GB" sz="2000" dirty="0" smtClean="0">
                <a:solidFill>
                  <a:schemeClr val="tx1"/>
                </a:solidFill>
              </a:rPr>
              <a:t>Space Complexity</a:t>
            </a:r>
          </a:p>
          <a:p>
            <a:pPr marL="457200" indent="-457200" algn="just">
              <a:lnSpc>
                <a:spcPct val="150000"/>
              </a:lnSpc>
              <a:buNone/>
            </a:pPr>
            <a:endParaRPr lang="en-US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7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Complexity of Data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GB" sz="2000" b="1" dirty="0" smtClean="0">
                <a:solidFill>
                  <a:schemeClr val="tx1"/>
                </a:solidFill>
              </a:rPr>
              <a:t>Time Complexity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 time complexity of an algorithm is basically the running time of a program as a function of the input size.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for(</a:t>
            </a:r>
            <a:r>
              <a:rPr lang="en-GB" sz="1900" dirty="0" err="1" smtClean="0">
                <a:solidFill>
                  <a:schemeClr val="tx1"/>
                </a:solidFill>
              </a:rPr>
              <a:t>i</a:t>
            </a:r>
            <a:r>
              <a:rPr lang="en-GB" sz="1900" dirty="0" smtClean="0">
                <a:solidFill>
                  <a:schemeClr val="tx1"/>
                </a:solidFill>
              </a:rPr>
              <a:t>=0; </a:t>
            </a:r>
            <a:r>
              <a:rPr lang="en-GB" sz="1900" dirty="0" err="1" smtClean="0">
                <a:solidFill>
                  <a:schemeClr val="tx1"/>
                </a:solidFill>
              </a:rPr>
              <a:t>i</a:t>
            </a:r>
            <a:r>
              <a:rPr lang="en-GB" sz="1900" dirty="0" smtClean="0">
                <a:solidFill>
                  <a:schemeClr val="tx1"/>
                </a:solidFill>
              </a:rPr>
              <a:t> &lt; N; </a:t>
            </a:r>
            <a:r>
              <a:rPr lang="en-GB" sz="1900" dirty="0" err="1" smtClean="0">
                <a:solidFill>
                  <a:schemeClr val="tx1"/>
                </a:solidFill>
              </a:rPr>
              <a:t>i</a:t>
            </a:r>
            <a:r>
              <a:rPr lang="en-GB" sz="1900" dirty="0" smtClean="0">
                <a:solidFill>
                  <a:schemeClr val="tx1"/>
                </a:solidFill>
              </a:rPr>
              <a:t>++)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{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    statement;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}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 time complexity for the above algorithm will be Linear. The running time of the loop is directly proportional to N. When N doubles, so does the running time.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7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Complexity of Data Structure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1900" b="1" dirty="0" smtClean="0">
                <a:solidFill>
                  <a:schemeClr val="tx1"/>
                </a:solidFill>
              </a:rPr>
              <a:t>2. Space Complexity</a:t>
            </a:r>
          </a:p>
          <a:p>
            <a:r>
              <a:rPr lang="en-GB" sz="2000" dirty="0" smtClean="0">
                <a:solidFill>
                  <a:schemeClr val="tx1"/>
                </a:solidFill>
              </a:rPr>
              <a:t>Space complexity of an algorithm represents the amount of memory space needed the algorithm in its life cycle.</a:t>
            </a:r>
          </a:p>
          <a:p>
            <a:r>
              <a:rPr lang="en-GB" sz="2000" dirty="0" smtClean="0">
                <a:solidFill>
                  <a:schemeClr val="tx1"/>
                </a:solidFill>
              </a:rPr>
              <a:t>Space needed by an algorithm is equal to the sum of the following two components</a:t>
            </a:r>
          </a:p>
          <a:p>
            <a:r>
              <a:rPr lang="en-GB" sz="2000" dirty="0" smtClean="0">
                <a:solidFill>
                  <a:schemeClr val="tx1"/>
                </a:solidFill>
              </a:rPr>
              <a:t>A fixed part that is a space required to store certain data and variables (i.e. simple variables and constants, program size etc.), that are not dependent of the size of the problem.</a:t>
            </a:r>
          </a:p>
          <a:p>
            <a:r>
              <a:rPr lang="en-GB" sz="2000" dirty="0" smtClean="0">
                <a:solidFill>
                  <a:schemeClr val="tx1"/>
                </a:solidFill>
              </a:rPr>
              <a:t>A variable part is a space required by variables, whose size is totally dependent on the size of the problem. For example, recursion stack space, dynamic memory allocation etc.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7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Analysis of Algorithm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900" dirty="0" smtClean="0">
                <a:solidFill>
                  <a:schemeClr val="tx1"/>
                </a:solidFill>
              </a:rPr>
              <a:t>We can analyze algorithm in Three Different ways as follows.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900" dirty="0" smtClean="0">
                <a:solidFill>
                  <a:schemeClr val="tx1"/>
                </a:solidFill>
              </a:rPr>
              <a:t>Best Case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900" dirty="0" smtClean="0">
                <a:solidFill>
                  <a:schemeClr val="tx1"/>
                </a:solidFill>
              </a:rPr>
              <a:t>Worst Case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900" dirty="0" smtClean="0">
                <a:solidFill>
                  <a:schemeClr val="tx1"/>
                </a:solidFill>
              </a:rPr>
              <a:t>Average Case</a:t>
            </a:r>
          </a:p>
          <a:p>
            <a:pPr marL="457200" indent="-457200" algn="just">
              <a:lnSpc>
                <a:spcPct val="150000"/>
              </a:lnSpc>
              <a:buNone/>
            </a:pPr>
            <a:endParaRPr lang="en-IN" sz="1900" dirty="0" smtClean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50000"/>
              </a:lnSpc>
              <a:buNone/>
            </a:pPr>
            <a:endParaRPr lang="en-US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7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Analysis of Algorithm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1900" b="1" dirty="0" smtClean="0">
                <a:solidFill>
                  <a:schemeClr val="tx1"/>
                </a:solidFill>
              </a:rPr>
              <a:t>Best Case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 best-case complexity of the algorithm is the function defined by the minimum number of steps taken on any instance of size n.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 term ‘best-case performance’ is used to analyse an algorithm under optimal conditions.</a:t>
            </a:r>
            <a:endParaRPr lang="en-IN" sz="1900" dirty="0" smtClean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50000"/>
              </a:lnSpc>
              <a:buNone/>
            </a:pPr>
            <a:endParaRPr lang="en-US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7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Analysis of Algorithm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IN" sz="1900" b="1" dirty="0" smtClean="0">
                <a:solidFill>
                  <a:schemeClr val="tx1"/>
                </a:solidFill>
              </a:rPr>
              <a:t>  Worst Case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 worst-case complexity of the algorithm is the function defined by the maximum number of steps taken on any instance of size 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 worst-case running time of an algorithm is an upper bound on the running time for any input.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Therefore, having the knowledge of worst-case running time gives us an assurance that the algorithm will never go beyond this time limit.</a:t>
            </a:r>
            <a:endParaRPr lang="en-IN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7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685800"/>
          </a:xfrm>
        </p:spPr>
        <p:txBody>
          <a:bodyPr anchor="ctr"/>
          <a:lstStyle/>
          <a:p>
            <a:r>
              <a:rPr lang="en-US" sz="3000" dirty="0" smtClean="0"/>
              <a:t>Analysis of Algorithm</a:t>
            </a:r>
            <a:endParaRPr lang="en-US" sz="3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036637"/>
            <a:ext cx="8305800" cy="51355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900" b="1" dirty="0" smtClean="0">
                <a:solidFill>
                  <a:schemeClr val="tx1"/>
                </a:solidFill>
              </a:rPr>
              <a:t>3. Average Case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The average-case running time of an algorithm is an estimate of the running time for an ‘average’ input.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9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900" dirty="0" smtClean="0">
                <a:solidFill>
                  <a:schemeClr val="tx1"/>
                </a:solidFill>
              </a:rPr>
              <a:t>It specifies the expected behaviour of the algorithm when the input is randomly drawn from a given distribution.</a:t>
            </a:r>
            <a:endParaRPr lang="en-IN" sz="1900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176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600200"/>
          </a:xfrm>
        </p:spPr>
        <p:txBody>
          <a:bodyPr/>
          <a:lstStyle/>
          <a:p>
            <a:r>
              <a:rPr lang="en-US" dirty="0" smtClean="0"/>
              <a:t>Thank You...!!!!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7653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3637</TotalTime>
  <Words>1443</Words>
  <Application>Microsoft Office PowerPoint</Application>
  <PresentationFormat>On-screen Show (4:3)</PresentationFormat>
  <Paragraphs>309</Paragraphs>
  <Slides>32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Executive</vt:lpstr>
      <vt:lpstr>Unit-1   Introduction of Data Structure</vt:lpstr>
      <vt:lpstr>Unit-1</vt:lpstr>
      <vt:lpstr>Introduction of Data</vt:lpstr>
      <vt:lpstr>Introduction of Datatype</vt:lpstr>
      <vt:lpstr>Introduction of Datatype</vt:lpstr>
      <vt:lpstr>Primary Datatype</vt:lpstr>
      <vt:lpstr>Derived Data type</vt:lpstr>
      <vt:lpstr>Derived Data type</vt:lpstr>
      <vt:lpstr>Derived Data type</vt:lpstr>
      <vt:lpstr>Derived Data type</vt:lpstr>
      <vt:lpstr>User Defined Datatype</vt:lpstr>
      <vt:lpstr>User Defined Datatype</vt:lpstr>
      <vt:lpstr>User Defined Datatype</vt:lpstr>
      <vt:lpstr>User Defined Datatype</vt:lpstr>
      <vt:lpstr>User Defined Datatype</vt:lpstr>
      <vt:lpstr>User Defined Datatype</vt:lpstr>
      <vt:lpstr>Introduction of Data Structure</vt:lpstr>
      <vt:lpstr>Introduction of Data Structure</vt:lpstr>
      <vt:lpstr>Introduction of Data Structure</vt:lpstr>
      <vt:lpstr>Introduction of Data Structure</vt:lpstr>
      <vt:lpstr>Introduction of Data Structure</vt:lpstr>
      <vt:lpstr>Introduction of Data Structure</vt:lpstr>
      <vt:lpstr>Introduction of Data Structure</vt:lpstr>
      <vt:lpstr>Introduction of Data Structure</vt:lpstr>
      <vt:lpstr>Complexity of Data Structure</vt:lpstr>
      <vt:lpstr>Complexity of Data Structure</vt:lpstr>
      <vt:lpstr>Complexity of Data Structure</vt:lpstr>
      <vt:lpstr>Analysis of Algorithm</vt:lpstr>
      <vt:lpstr>Analysis of Algorithm</vt:lpstr>
      <vt:lpstr>Analysis of Algorithm</vt:lpstr>
      <vt:lpstr>Analysis of Algorithm</vt:lpstr>
      <vt:lpstr>Thank You...!!!!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Unit-1  Basic concepts of Design and Analysis of Algorithm</dc:title>
  <dc:creator>Windows User</dc:creator>
  <cp:lastModifiedBy>Admin</cp:lastModifiedBy>
  <cp:revision>292</cp:revision>
  <dcterms:created xsi:type="dcterms:W3CDTF">2018-06-25T13:25:34Z</dcterms:created>
  <dcterms:modified xsi:type="dcterms:W3CDTF">2023-07-03T06:43:36Z</dcterms:modified>
</cp:coreProperties>
</file>